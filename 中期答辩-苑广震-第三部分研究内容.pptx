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61" r:id="rId2"/>
    <p:sldMasterId id="2147483685" r:id="rId3"/>
    <p:sldMasterId id="2147483950" r:id="rId4"/>
    <p:sldMasterId id="2147483963" r:id="rId5"/>
    <p:sldMasterId id="2147483989" r:id="rId6"/>
    <p:sldMasterId id="2147484015" r:id="rId7"/>
  </p:sldMasterIdLst>
  <p:notesMasterIdLst>
    <p:notesMasterId r:id="rId29"/>
  </p:notesMasterIdLst>
  <p:handoutMasterIdLst>
    <p:handoutMasterId r:id="rId30"/>
  </p:handoutMasterIdLst>
  <p:sldIdLst>
    <p:sldId id="256" r:id="rId16"/>
    <p:sldId id="257" r:id="rId17"/>
    <p:sldId id="258" r:id="rId18"/>
    <p:sldId id="259" r:id="rId19"/>
    <p:sldId id="260" r:id="rId20"/>
    <p:sldId id="261" r:id="rId21"/>
    <p:sldId id="262" r:id="rId22"/>
  </p:sldIdLst>
  <p:sldSz cx="12191999" cy="6858000"/>
  <p:notesSz cx="6858000" cy="9144000"/>
  <p:custDataLst>
    <p:tags r:id="rId3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42" userDrawn="1">
          <p15:clr>
            <a:srgbClr val="A4A3A4"/>
          </p15:clr>
        </p15:guide>
        <p15:guide id="2" pos="386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ili" initials="L" lastIdx="5" clrIdx="0"/>
  <p:cmAuthor id="2" name="作者" initials="A" lastIdx="0" clrIdx="1"/>
  <p:cmAuthor id="3" name="ncrcgd301" initials="n" lastIdx="1" clrIdx="2"/>
  <p:cmAuthor id="4" name="NGRCGD301" initials="N" lastIdx="7" clrIdx="3"/>
  <p:cmAuthor id="5" name="NGRCG301" initials="N" lastIdx="1" clrIdx="4"/>
  <p:cmAuthor id="6" name="Cheney" initials="C" lastIdx="1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20000"/>
    <a:srgbClr val="C00000"/>
    <a:srgbClr val="0909FF"/>
    <a:srgbClr val="DDF7FF"/>
    <a:srgbClr val="6F90B8"/>
    <a:srgbClr val="B4C9E5"/>
    <a:srgbClr val="8BA7CA"/>
    <a:srgbClr val="B2C9E6"/>
    <a:srgbClr val="0000FF"/>
    <a:srgbClr val="FDFD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717" autoAdjust="0"/>
    <p:restoredTop sz="84574" autoAdjust="0"/>
  </p:normalViewPr>
  <p:slideViewPr>
    <p:cSldViewPr snapToGrid="0" showGuides="1">
      <p:cViewPr varScale="1">
        <p:scale>
          <a:sx n="61" d="100"/>
          <a:sy n="61" d="100"/>
        </p:scale>
        <p:origin x="704" y="44"/>
      </p:cViewPr>
      <p:guideLst>
        <p:guide orient="horz" pos="2342"/>
        <p:guide pos="3869"/>
      </p:guideLst>
    </p:cSldViewPr>
  </p:slid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150" d="100"/>
        <a:sy n="150" d="100"/>
      </p:scale>
      <p:origin x="0" y="0"/>
    </p:cViewPr>
  </p:sorter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Master" Target="slideMasters/slideMaster5.xml"/><Relationship Id="rId6" Type="http://schemas.openxmlformats.org/officeDocument/2006/relationships/slideMaster" Target="slideMasters/slideMaster6.xml"/><Relationship Id="rId7" Type="http://schemas.openxmlformats.org/officeDocument/2006/relationships/slideMaster" Target="slideMasters/slideMaster7.xml"/><Relationship Id="rId16" Type="http://schemas.openxmlformats.org/officeDocument/2006/relationships/slide" Target="slides/slide1.xml"/><Relationship Id="rId17" Type="http://schemas.openxmlformats.org/officeDocument/2006/relationships/slide" Target="slides/slide2.xml"/><Relationship Id="rId18" Type="http://schemas.openxmlformats.org/officeDocument/2006/relationships/slide" Target="slides/slide3.xml"/><Relationship Id="rId19" Type="http://schemas.openxmlformats.org/officeDocument/2006/relationships/slide" Target="slides/slide4.xml"/><Relationship Id="rId20" Type="http://schemas.openxmlformats.org/officeDocument/2006/relationships/slide" Target="slides/slide5.xml"/><Relationship Id="rId21" Type="http://schemas.openxmlformats.org/officeDocument/2006/relationships/slide" Target="slides/slide6.xml"/><Relationship Id="rId22" Type="http://schemas.openxmlformats.org/officeDocument/2006/relationships/slide" Target="slides/slide7.xml"/><Relationship Id="rId29" Type="http://schemas.openxmlformats.org/officeDocument/2006/relationships/notesMaster" Target="notesMasters/notesMaster1.xml"/><Relationship Id="rId30" Type="http://schemas.openxmlformats.org/officeDocument/2006/relationships/handoutMaster" Target="handoutMasters/handoutMaster1.xml"/><Relationship Id="rId31" Type="http://schemas.openxmlformats.org/officeDocument/2006/relationships/tags" Target="tags/tag1.xml"/><Relationship Id="rId32" Type="http://schemas.openxmlformats.org/officeDocument/2006/relationships/commentAuthors" Target="commentAuthors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9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2025/10/14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2025/10/14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Relationship Id="rId3" Type="http://schemas.openxmlformats.org/officeDocument/2006/relationships/image" Target="../media/image4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jpeg"/><Relationship Id="rId3" Type="http://schemas.openxmlformats.org/officeDocument/2006/relationships/image" Target="../media/image4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.jpeg"/><Relationship Id="rId3" Type="http://schemas.openxmlformats.org/officeDocument/2006/relationships/image" Target="../media/image4.png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3.jpeg"/><Relationship Id="rId3" Type="http://schemas.openxmlformats.org/officeDocument/2006/relationships/image" Target="../media/image4.png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3.jpeg"/><Relationship Id="rId3" Type="http://schemas.openxmlformats.org/officeDocument/2006/relationships/image" Target="../media/image4.png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3.jpeg"/><Relationship Id="rId3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14F19-B349-47E4-8299-D1285E963E20}" type="datetimeFigureOut">
              <a:rPr lang="zh-CN" altLang="en-US" smtClean="0"/>
              <a:t>2025/10/14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220F5-3FF8-477C-A62F-10CB4E6F40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14F19-B349-47E4-8299-D1285E963E20}" type="datetimeFigureOut">
              <a:rPr lang="zh-CN" altLang="en-US" smtClean="0"/>
              <a:t>2025/10/14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220F5-3FF8-477C-A62F-10CB4E6F40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613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613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14F19-B349-47E4-8299-D1285E963E20}" type="datetimeFigureOut">
              <a:rPr lang="zh-CN" altLang="en-US" smtClean="0"/>
              <a:t>2025/10/14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220F5-3FF8-477C-A62F-10CB4E6F40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4102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54102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14F19-B349-47E4-8299-D1285E963E20}" type="datetimeFigureOut">
              <a:rPr lang="zh-CN" altLang="en-US" smtClean="0"/>
              <a:t>2025/10/14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220F5-3FF8-477C-A62F-10CB4E6F40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3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3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838" y="1535113"/>
            <a:ext cx="538956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838" y="2174875"/>
            <a:ext cx="538956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14F19-B349-47E4-8299-D1285E963E20}" type="datetimeFigureOut">
              <a:rPr lang="zh-CN" altLang="en-US" smtClean="0"/>
              <a:t>2025/10/14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220F5-3FF8-477C-A62F-10CB4E6F40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14F19-B349-47E4-8299-D1285E963E20}" type="datetimeFigureOut">
              <a:rPr lang="zh-CN" altLang="en-US" smtClean="0"/>
              <a:t>2025/10/14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220F5-3FF8-477C-A62F-10CB4E6F40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14F19-B349-47E4-8299-D1285E963E20}" type="datetimeFigureOut">
              <a:rPr lang="zh-CN" altLang="en-US" smtClean="0"/>
              <a:t>2025/10/14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220F5-3FF8-477C-A62F-10CB4E6F40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6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7263" y="273050"/>
            <a:ext cx="681513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6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14F19-B349-47E4-8299-D1285E963E20}" type="datetimeFigureOut">
              <a:rPr lang="zh-CN" altLang="en-US" smtClean="0"/>
              <a:t>2025/10/14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220F5-3FF8-477C-A62F-10CB4E6F40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188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188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188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14F19-B349-47E4-8299-D1285E963E20}" type="datetimeFigureOut">
              <a:rPr lang="zh-CN" altLang="en-US" smtClean="0"/>
              <a:t>2025/10/14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220F5-3FF8-477C-A62F-10CB4E6F40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14F19-B349-47E4-8299-D1285E963E20}" type="datetimeFigureOut">
              <a:rPr lang="zh-CN" altLang="en-US" smtClean="0"/>
              <a:t>2025/10/14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220F5-3FF8-477C-A62F-10CB4E6F40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772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14F19-B349-47E4-8299-D1285E963E20}" type="datetimeFigureOut">
              <a:rPr lang="zh-CN" altLang="en-US" smtClean="0"/>
              <a:t>2025/10/14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220F5-3FF8-477C-A62F-10CB4E6F40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15092"/>
            <a:ext cx="10515600" cy="3719245"/>
          </a:xfrm>
        </p:spPr>
        <p:txBody>
          <a:bodyPr/>
          <a:lstStyle>
            <a:lvl1pPr marL="228600" indent="-228600">
              <a:buFontTx/>
              <a:buBlip>
                <a:blip r:embed="rId2"/>
              </a:buBlip>
              <a:defRPr sz="2400" baseline="0"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>
              <a:defRPr baseline="0"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>
              <a:defRPr baseline="0"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>
              <a:defRPr baseline="0"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>
              <a:defRPr baseline="0"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14" name="矩形 13"/>
          <p:cNvSpPr/>
          <p:nvPr userDrawn="1"/>
        </p:nvSpPr>
        <p:spPr>
          <a:xfrm>
            <a:off x="0" y="782087"/>
            <a:ext cx="12192000" cy="18000"/>
          </a:xfrm>
          <a:prstGeom prst="rect">
            <a:avLst/>
          </a:prstGeom>
          <a:gradFill>
            <a:gsLst>
              <a:gs pos="0">
                <a:schemeClr val="accent1">
                  <a:lumMod val="40000"/>
                  <a:lumOff val="60000"/>
                </a:schemeClr>
              </a:gs>
              <a:gs pos="100000">
                <a:srgbClr val="0000FF"/>
              </a:gs>
            </a:gsLst>
            <a:lin ang="10800000" scaled="1"/>
          </a:gradFill>
          <a:ln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grpSp>
        <p:nvGrpSpPr>
          <p:cNvPr id="15" name="Group 7"/>
          <p:cNvGrpSpPr/>
          <p:nvPr userDrawn="1"/>
        </p:nvGrpSpPr>
        <p:grpSpPr bwMode="auto">
          <a:xfrm>
            <a:off x="144207" y="278788"/>
            <a:ext cx="465484" cy="274639"/>
            <a:chOff x="0" y="0"/>
            <a:chExt cx="698499" cy="549275"/>
          </a:xfrm>
        </p:grpSpPr>
        <p:sp>
          <p:nvSpPr>
            <p:cNvPr id="16" name="Freeform 16"/>
            <p:cNvSpPr/>
            <p:nvPr/>
          </p:nvSpPr>
          <p:spPr bwMode="auto">
            <a:xfrm>
              <a:off x="0" y="0"/>
              <a:ext cx="361950" cy="549275"/>
            </a:xfrm>
            <a:custGeom>
              <a:avLst/>
              <a:gdLst>
                <a:gd name="T0" fmla="*/ 4 w 400"/>
                <a:gd name="T1" fmla="*/ 92 h 608"/>
                <a:gd name="T2" fmla="*/ 96 w 400"/>
                <a:gd name="T3" fmla="*/ 0 h 608"/>
                <a:gd name="T4" fmla="*/ 400 w 400"/>
                <a:gd name="T5" fmla="*/ 304 h 608"/>
                <a:gd name="T6" fmla="*/ 96 w 400"/>
                <a:gd name="T7" fmla="*/ 608 h 608"/>
                <a:gd name="T8" fmla="*/ 0 w 400"/>
                <a:gd name="T9" fmla="*/ 512 h 608"/>
                <a:gd name="T10" fmla="*/ 212 w 400"/>
                <a:gd name="T11" fmla="*/ 300 h 608"/>
                <a:gd name="T12" fmla="*/ 4 w 400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00" h="608">
                  <a:moveTo>
                    <a:pt x="4" y="92"/>
                  </a:moveTo>
                  <a:lnTo>
                    <a:pt x="96" y="0"/>
                  </a:lnTo>
                  <a:lnTo>
                    <a:pt x="400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99FF"/>
                </a:gs>
                <a:gs pos="100000">
                  <a:srgbClr val="0000FF"/>
                </a:gs>
              </a:gsLst>
              <a:lin ang="10800000" scaled="1"/>
              <a:tileRect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defTabSz="914400"/>
              <a:endParaRPr lang="zh-CN" altLang="en-US" sz="18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endParaRPr>
            </a:p>
          </p:txBody>
        </p:sp>
        <p:sp>
          <p:nvSpPr>
            <p:cNvPr id="17" name="Freeform 17"/>
            <p:cNvSpPr/>
            <p:nvPr/>
          </p:nvSpPr>
          <p:spPr bwMode="auto">
            <a:xfrm>
              <a:off x="338137" y="0"/>
              <a:ext cx="360362" cy="549275"/>
            </a:xfrm>
            <a:custGeom>
              <a:avLst/>
              <a:gdLst>
                <a:gd name="T0" fmla="*/ 4 w 399"/>
                <a:gd name="T1" fmla="*/ 92 h 608"/>
                <a:gd name="T2" fmla="*/ 96 w 399"/>
                <a:gd name="T3" fmla="*/ 0 h 608"/>
                <a:gd name="T4" fmla="*/ 399 w 399"/>
                <a:gd name="T5" fmla="*/ 304 h 608"/>
                <a:gd name="T6" fmla="*/ 96 w 399"/>
                <a:gd name="T7" fmla="*/ 608 h 608"/>
                <a:gd name="T8" fmla="*/ 0 w 399"/>
                <a:gd name="T9" fmla="*/ 512 h 608"/>
                <a:gd name="T10" fmla="*/ 212 w 399"/>
                <a:gd name="T11" fmla="*/ 300 h 608"/>
                <a:gd name="T12" fmla="*/ 4 w 399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6" y="0"/>
                  </a:lnTo>
                  <a:lnTo>
                    <a:pt x="399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gradFill>
              <a:gsLst>
                <a:gs pos="0">
                  <a:srgbClr val="66CCFF"/>
                </a:gs>
                <a:gs pos="100000">
                  <a:srgbClr val="0099FF"/>
                </a:gs>
              </a:gsLst>
              <a:lin ang="108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defTabSz="914400"/>
              <a:endParaRPr lang="zh-CN" altLang="en-US" sz="18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endParaRPr>
            </a:p>
          </p:txBody>
        </p:sp>
      </p:grpSp>
      <p:sp>
        <p:nvSpPr>
          <p:cNvPr id="10" name="流程图: 延期 9"/>
          <p:cNvSpPr/>
          <p:nvPr userDrawn="1"/>
        </p:nvSpPr>
        <p:spPr>
          <a:xfrm flipH="1">
            <a:off x="11811000" y="6613025"/>
            <a:ext cx="347133" cy="216000"/>
          </a:xfrm>
          <a:prstGeom prst="flowChartDelay">
            <a:avLst/>
          </a:prstGeom>
          <a:solidFill>
            <a:srgbClr val="339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lide Number Placeholder 5"/>
          <p:cNvSpPr txBox="1"/>
          <p:nvPr userDrawn="1"/>
        </p:nvSpPr>
        <p:spPr>
          <a:xfrm>
            <a:off x="11778365" y="6595246"/>
            <a:ext cx="453041" cy="216000"/>
          </a:xfrm>
          <a:prstGeom prst="rect">
            <a:avLst/>
          </a:prstGeom>
        </p:spPr>
        <p:txBody>
          <a:bodyPr vert="horz" lIns="0" tIns="0" rIns="0" bIns="0" rtlCol="0" anchor="ctr" anchorCtr="1"/>
          <a:lstStyle>
            <a:defPPr>
              <a:defRPr lang="zh-CN"/>
            </a:defPPr>
            <a:lvl1pPr marL="0" algn="r" defTabSz="914400" rtl="0" eaLnBrk="1" latinLnBrk="0" hangingPunct="1">
              <a:defRPr sz="1200" b="1" kern="120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FDA168E-DF58-428E-B521-7D77D76010C6}" type="slidenum">
              <a:rPr lang="zh-CN" altLang="en-US" sz="1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‹#›</a:t>
            </a:fld>
            <a:endParaRPr lang="zh-CN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602" b="31977"/>
          <a:stretch>
            <a:fillRect/>
          </a:stretch>
        </p:blipFill>
        <p:spPr>
          <a:xfrm>
            <a:off x="8957460" y="47114"/>
            <a:ext cx="3072000" cy="79209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14F19-B349-47E4-8299-D1285E963E20}" type="datetimeFigureOut">
              <a:rPr lang="zh-CN" altLang="en-US" smtClean="0"/>
              <a:t>2025/10/14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220F5-3FF8-477C-A62F-10CB4E6F40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14F19-B349-47E4-8299-D1285E963E20}" type="datetimeFigureOut">
              <a:rPr lang="zh-CN" altLang="en-US" smtClean="0"/>
              <a:t>2025/10/14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220F5-3FF8-477C-A62F-10CB4E6F40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613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613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14F19-B349-47E4-8299-D1285E963E20}" type="datetimeFigureOut">
              <a:rPr lang="zh-CN" altLang="en-US" smtClean="0"/>
              <a:t>2025/10/14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220F5-3FF8-477C-A62F-10CB4E6F40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4102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54102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14F19-B349-47E4-8299-D1285E963E20}" type="datetimeFigureOut">
              <a:rPr lang="zh-CN" altLang="en-US" smtClean="0"/>
              <a:t>2025/10/14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220F5-3FF8-477C-A62F-10CB4E6F40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3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3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838" y="1535113"/>
            <a:ext cx="538956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838" y="2174875"/>
            <a:ext cx="538956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14F19-B349-47E4-8299-D1285E963E20}" type="datetimeFigureOut">
              <a:rPr lang="zh-CN" altLang="en-US" smtClean="0"/>
              <a:t>2025/10/14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220F5-3FF8-477C-A62F-10CB4E6F40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14F19-B349-47E4-8299-D1285E963E20}" type="datetimeFigureOut">
              <a:rPr lang="zh-CN" altLang="en-US" smtClean="0"/>
              <a:t>2025/10/14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220F5-3FF8-477C-A62F-10CB4E6F40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14F19-B349-47E4-8299-D1285E963E20}" type="datetimeFigureOut">
              <a:rPr lang="zh-CN" altLang="en-US" smtClean="0"/>
              <a:t>2025/10/14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220F5-3FF8-477C-A62F-10CB4E6F40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6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7263" y="273050"/>
            <a:ext cx="681513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6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14F19-B349-47E4-8299-D1285E963E20}" type="datetimeFigureOut">
              <a:rPr lang="zh-CN" altLang="en-US" smtClean="0"/>
              <a:t>2025/10/14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220F5-3FF8-477C-A62F-10CB4E6F40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188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188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188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14F19-B349-47E4-8299-D1285E963E20}" type="datetimeFigureOut">
              <a:rPr lang="zh-CN" altLang="en-US" smtClean="0"/>
              <a:t>2025/10/14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220F5-3FF8-477C-A62F-10CB4E6F40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14F19-B349-47E4-8299-D1285E963E20}" type="datetimeFigureOut">
              <a:rPr lang="zh-CN" altLang="en-US" smtClean="0"/>
              <a:t>2025/10/14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220F5-3FF8-477C-A62F-10CB4E6F40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772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14F19-B349-47E4-8299-D1285E963E20}" type="datetimeFigureOut">
              <a:rPr lang="zh-CN" altLang="en-US" smtClean="0"/>
              <a:t>2025/10/14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220F5-3FF8-477C-A62F-10CB4E6F40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14F19-B349-47E4-8299-D1285E963E20}" type="datetimeFigureOut">
              <a:rPr lang="zh-CN" altLang="en-US" smtClean="0"/>
              <a:t>2025/10/14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220F5-3FF8-477C-A62F-10CB4E6F40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14F19-B349-47E4-8299-D1285E963E20}" type="datetimeFigureOut">
              <a:rPr lang="zh-CN" altLang="en-US" smtClean="0"/>
              <a:t>2025/10/14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220F5-3FF8-477C-A62F-10CB4E6F40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613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613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14F19-B349-47E4-8299-D1285E963E20}" type="datetimeFigureOut">
              <a:rPr lang="zh-CN" altLang="en-US" smtClean="0"/>
              <a:t>2025/10/14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220F5-3FF8-477C-A62F-10CB4E6F40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4102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54102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14F19-B349-47E4-8299-D1285E963E20}" type="datetimeFigureOut">
              <a:rPr lang="zh-CN" altLang="en-US" smtClean="0"/>
              <a:t>2025/10/14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220F5-3FF8-477C-A62F-10CB4E6F40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3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3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838" y="1535113"/>
            <a:ext cx="538956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838" y="2174875"/>
            <a:ext cx="538956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14F19-B349-47E4-8299-D1285E963E20}" type="datetimeFigureOut">
              <a:rPr lang="zh-CN" altLang="en-US" smtClean="0"/>
              <a:t>2025/10/14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220F5-3FF8-477C-A62F-10CB4E6F40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14F19-B349-47E4-8299-D1285E963E20}" type="datetimeFigureOut">
              <a:rPr lang="zh-CN" altLang="en-US" smtClean="0"/>
              <a:t>2025/10/14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220F5-3FF8-477C-A62F-10CB4E6F40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14F19-B349-47E4-8299-D1285E963E20}" type="datetimeFigureOut">
              <a:rPr lang="zh-CN" altLang="en-US" smtClean="0"/>
              <a:t>2025/10/14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220F5-3FF8-477C-A62F-10CB4E6F40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6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7263" y="273050"/>
            <a:ext cx="681513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6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14F19-B349-47E4-8299-D1285E963E20}" type="datetimeFigureOut">
              <a:rPr lang="zh-CN" altLang="en-US" smtClean="0"/>
              <a:t>2025/10/14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220F5-3FF8-477C-A62F-10CB4E6F40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188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188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188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14F19-B349-47E4-8299-D1285E963E20}" type="datetimeFigureOut">
              <a:rPr lang="zh-CN" altLang="en-US" smtClean="0"/>
              <a:t>2025/10/14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220F5-3FF8-477C-A62F-10CB4E6F40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14F19-B349-47E4-8299-D1285E963E20}" type="datetimeFigureOut">
              <a:rPr lang="zh-CN" altLang="en-US" smtClean="0"/>
              <a:t>2025/10/14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220F5-3FF8-477C-A62F-10CB4E6F40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772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14F19-B349-47E4-8299-D1285E963E20}" type="datetimeFigureOut">
              <a:rPr lang="zh-CN" altLang="en-US" smtClean="0"/>
              <a:t>2025/10/14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220F5-3FF8-477C-A62F-10CB4E6F40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15092"/>
            <a:ext cx="10515600" cy="3719245"/>
          </a:xfrm>
        </p:spPr>
        <p:txBody>
          <a:bodyPr/>
          <a:lstStyle>
            <a:lvl1pPr marL="228600" indent="-228600">
              <a:buFontTx/>
              <a:buBlip>
                <a:blip r:embed="rId2"/>
              </a:buBlip>
              <a:defRPr sz="2400" baseline="0"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>
              <a:defRPr baseline="0"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>
              <a:defRPr baseline="0"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>
              <a:defRPr baseline="0"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>
              <a:defRPr baseline="0"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14" name="矩形 13"/>
          <p:cNvSpPr/>
          <p:nvPr userDrawn="1"/>
        </p:nvSpPr>
        <p:spPr>
          <a:xfrm>
            <a:off x="0" y="782087"/>
            <a:ext cx="12192000" cy="18000"/>
          </a:xfrm>
          <a:prstGeom prst="rect">
            <a:avLst/>
          </a:prstGeom>
          <a:gradFill>
            <a:gsLst>
              <a:gs pos="0">
                <a:schemeClr val="accent1">
                  <a:lumMod val="40000"/>
                  <a:lumOff val="60000"/>
                </a:schemeClr>
              </a:gs>
              <a:gs pos="100000">
                <a:srgbClr val="0000FF"/>
              </a:gs>
            </a:gsLst>
            <a:lin ang="10800000" scaled="1"/>
          </a:gradFill>
          <a:ln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grpSp>
        <p:nvGrpSpPr>
          <p:cNvPr id="15" name="Group 7"/>
          <p:cNvGrpSpPr/>
          <p:nvPr userDrawn="1"/>
        </p:nvGrpSpPr>
        <p:grpSpPr bwMode="auto">
          <a:xfrm>
            <a:off x="144207" y="278788"/>
            <a:ext cx="465484" cy="274639"/>
            <a:chOff x="0" y="0"/>
            <a:chExt cx="698499" cy="549275"/>
          </a:xfrm>
        </p:grpSpPr>
        <p:sp>
          <p:nvSpPr>
            <p:cNvPr id="16" name="Freeform 16"/>
            <p:cNvSpPr/>
            <p:nvPr/>
          </p:nvSpPr>
          <p:spPr bwMode="auto">
            <a:xfrm>
              <a:off x="0" y="0"/>
              <a:ext cx="361950" cy="549275"/>
            </a:xfrm>
            <a:custGeom>
              <a:avLst/>
              <a:gdLst>
                <a:gd name="T0" fmla="*/ 4 w 400"/>
                <a:gd name="T1" fmla="*/ 92 h 608"/>
                <a:gd name="T2" fmla="*/ 96 w 400"/>
                <a:gd name="T3" fmla="*/ 0 h 608"/>
                <a:gd name="T4" fmla="*/ 400 w 400"/>
                <a:gd name="T5" fmla="*/ 304 h 608"/>
                <a:gd name="T6" fmla="*/ 96 w 400"/>
                <a:gd name="T7" fmla="*/ 608 h 608"/>
                <a:gd name="T8" fmla="*/ 0 w 400"/>
                <a:gd name="T9" fmla="*/ 512 h 608"/>
                <a:gd name="T10" fmla="*/ 212 w 400"/>
                <a:gd name="T11" fmla="*/ 300 h 608"/>
                <a:gd name="T12" fmla="*/ 4 w 400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00" h="608">
                  <a:moveTo>
                    <a:pt x="4" y="92"/>
                  </a:moveTo>
                  <a:lnTo>
                    <a:pt x="96" y="0"/>
                  </a:lnTo>
                  <a:lnTo>
                    <a:pt x="400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99FF"/>
                </a:gs>
                <a:gs pos="100000">
                  <a:srgbClr val="0000FF"/>
                </a:gs>
              </a:gsLst>
              <a:lin ang="10800000" scaled="1"/>
              <a:tileRect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defTabSz="914400"/>
              <a:endParaRPr lang="zh-CN" altLang="en-US" sz="18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endParaRPr>
            </a:p>
          </p:txBody>
        </p:sp>
        <p:sp>
          <p:nvSpPr>
            <p:cNvPr id="17" name="Freeform 17"/>
            <p:cNvSpPr/>
            <p:nvPr/>
          </p:nvSpPr>
          <p:spPr bwMode="auto">
            <a:xfrm>
              <a:off x="338137" y="0"/>
              <a:ext cx="360362" cy="549275"/>
            </a:xfrm>
            <a:custGeom>
              <a:avLst/>
              <a:gdLst>
                <a:gd name="T0" fmla="*/ 4 w 399"/>
                <a:gd name="T1" fmla="*/ 92 h 608"/>
                <a:gd name="T2" fmla="*/ 96 w 399"/>
                <a:gd name="T3" fmla="*/ 0 h 608"/>
                <a:gd name="T4" fmla="*/ 399 w 399"/>
                <a:gd name="T5" fmla="*/ 304 h 608"/>
                <a:gd name="T6" fmla="*/ 96 w 399"/>
                <a:gd name="T7" fmla="*/ 608 h 608"/>
                <a:gd name="T8" fmla="*/ 0 w 399"/>
                <a:gd name="T9" fmla="*/ 512 h 608"/>
                <a:gd name="T10" fmla="*/ 212 w 399"/>
                <a:gd name="T11" fmla="*/ 300 h 608"/>
                <a:gd name="T12" fmla="*/ 4 w 399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6" y="0"/>
                  </a:lnTo>
                  <a:lnTo>
                    <a:pt x="399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gradFill>
              <a:gsLst>
                <a:gs pos="0">
                  <a:srgbClr val="66CCFF"/>
                </a:gs>
                <a:gs pos="100000">
                  <a:srgbClr val="0099FF"/>
                </a:gs>
              </a:gsLst>
              <a:lin ang="108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defTabSz="914400"/>
              <a:endParaRPr lang="zh-CN" altLang="en-US" sz="18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endParaRPr>
            </a:p>
          </p:txBody>
        </p:sp>
      </p:grpSp>
      <p:sp>
        <p:nvSpPr>
          <p:cNvPr id="10" name="流程图: 延期 9"/>
          <p:cNvSpPr/>
          <p:nvPr userDrawn="1"/>
        </p:nvSpPr>
        <p:spPr>
          <a:xfrm flipH="1">
            <a:off x="11811000" y="6613025"/>
            <a:ext cx="347133" cy="216000"/>
          </a:xfrm>
          <a:prstGeom prst="flowChartDelay">
            <a:avLst/>
          </a:prstGeom>
          <a:solidFill>
            <a:srgbClr val="339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lide Number Placeholder 5"/>
          <p:cNvSpPr txBox="1"/>
          <p:nvPr userDrawn="1"/>
        </p:nvSpPr>
        <p:spPr>
          <a:xfrm>
            <a:off x="11778365" y="6595246"/>
            <a:ext cx="453041" cy="216000"/>
          </a:xfrm>
          <a:prstGeom prst="rect">
            <a:avLst/>
          </a:prstGeom>
        </p:spPr>
        <p:txBody>
          <a:bodyPr vert="horz" lIns="0" tIns="0" rIns="0" bIns="0" rtlCol="0" anchor="ctr" anchorCtr="1"/>
          <a:lstStyle>
            <a:defPPr>
              <a:defRPr lang="zh-CN"/>
            </a:defPPr>
            <a:lvl1pPr marL="0" algn="r" defTabSz="914400" rtl="0" eaLnBrk="1" latinLnBrk="0" hangingPunct="1">
              <a:defRPr sz="1200" b="1" kern="120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FDA168E-DF58-428E-B521-7D77D76010C6}" type="slidenum">
              <a:rPr lang="zh-CN" altLang="en-US" sz="1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‹#›</a:t>
            </a:fld>
            <a:endParaRPr lang="zh-CN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602" b="31977"/>
          <a:stretch>
            <a:fillRect/>
          </a:stretch>
        </p:blipFill>
        <p:spPr>
          <a:xfrm>
            <a:off x="8957460" y="47114"/>
            <a:ext cx="3072000" cy="79209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14F19-B349-47E4-8299-D1285E963E20}" type="datetimeFigureOut">
              <a:rPr lang="zh-CN" altLang="en-US" smtClean="0"/>
              <a:t>2025/10/14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220F5-3FF8-477C-A62F-10CB4E6F40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14F19-B349-47E4-8299-D1285E963E20}" type="datetimeFigureOut">
              <a:rPr lang="zh-CN" altLang="en-US" smtClean="0"/>
              <a:t>2025/10/14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220F5-3FF8-477C-A62F-10CB4E6F40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613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613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14F19-B349-47E4-8299-D1285E963E20}" type="datetimeFigureOut">
              <a:rPr lang="zh-CN" altLang="en-US" smtClean="0"/>
              <a:t>2025/10/14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220F5-3FF8-477C-A62F-10CB4E6F40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4102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54102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14F19-B349-47E4-8299-D1285E963E20}" type="datetimeFigureOut">
              <a:rPr lang="zh-CN" altLang="en-US" smtClean="0"/>
              <a:t>2025/10/14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220F5-3FF8-477C-A62F-10CB4E6F40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3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3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838" y="1535113"/>
            <a:ext cx="538956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838" y="2174875"/>
            <a:ext cx="538956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14F19-B349-47E4-8299-D1285E963E20}" type="datetimeFigureOut">
              <a:rPr lang="zh-CN" altLang="en-US" smtClean="0"/>
              <a:t>2025/10/14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220F5-3FF8-477C-A62F-10CB4E6F40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14F19-B349-47E4-8299-D1285E963E20}" type="datetimeFigureOut">
              <a:rPr lang="zh-CN" altLang="en-US" smtClean="0"/>
              <a:t>2025/10/14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220F5-3FF8-477C-A62F-10CB4E6F40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14F19-B349-47E4-8299-D1285E963E20}" type="datetimeFigureOut">
              <a:rPr lang="zh-CN" altLang="en-US" smtClean="0"/>
              <a:t>2025/10/14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220F5-3FF8-477C-A62F-10CB4E6F40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6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7263" y="273050"/>
            <a:ext cx="681513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6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14F19-B349-47E4-8299-D1285E963E20}" type="datetimeFigureOut">
              <a:rPr lang="zh-CN" altLang="en-US" smtClean="0"/>
              <a:t>2025/10/14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220F5-3FF8-477C-A62F-10CB4E6F40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188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188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188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14F19-B349-47E4-8299-D1285E963E20}" type="datetimeFigureOut">
              <a:rPr lang="zh-CN" altLang="en-US" smtClean="0"/>
              <a:t>2025/10/14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220F5-3FF8-477C-A62F-10CB4E6F40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14F19-B349-47E4-8299-D1285E963E20}" type="datetimeFigureOut">
              <a:rPr lang="zh-CN" altLang="en-US" smtClean="0"/>
              <a:t>2025/10/14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220F5-3FF8-477C-A62F-10CB4E6F40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772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14F19-B349-47E4-8299-D1285E963E20}" type="datetimeFigureOut">
              <a:rPr lang="zh-CN" altLang="en-US" smtClean="0"/>
              <a:t>2025/10/14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220F5-3FF8-477C-A62F-10CB4E6F40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15092"/>
            <a:ext cx="10515600" cy="3719245"/>
          </a:xfrm>
        </p:spPr>
        <p:txBody>
          <a:bodyPr/>
          <a:lstStyle>
            <a:lvl1pPr marL="228600" indent="-228600">
              <a:buFontTx/>
              <a:buBlip>
                <a:blip r:embed="rId2"/>
              </a:buBlip>
              <a:defRPr sz="2400" baseline="0"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>
              <a:defRPr baseline="0"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>
              <a:defRPr baseline="0"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>
              <a:defRPr baseline="0"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>
              <a:defRPr baseline="0"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14" name="矩形 13"/>
          <p:cNvSpPr/>
          <p:nvPr userDrawn="1"/>
        </p:nvSpPr>
        <p:spPr>
          <a:xfrm>
            <a:off x="0" y="782087"/>
            <a:ext cx="12192000" cy="18000"/>
          </a:xfrm>
          <a:prstGeom prst="rect">
            <a:avLst/>
          </a:prstGeom>
          <a:gradFill>
            <a:gsLst>
              <a:gs pos="0">
                <a:schemeClr val="accent1">
                  <a:lumMod val="40000"/>
                  <a:lumOff val="60000"/>
                </a:schemeClr>
              </a:gs>
              <a:gs pos="100000">
                <a:srgbClr val="0000FF"/>
              </a:gs>
            </a:gsLst>
            <a:lin ang="10800000" scaled="1"/>
          </a:gradFill>
          <a:ln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grpSp>
        <p:nvGrpSpPr>
          <p:cNvPr id="15" name="Group 7"/>
          <p:cNvGrpSpPr/>
          <p:nvPr userDrawn="1"/>
        </p:nvGrpSpPr>
        <p:grpSpPr bwMode="auto">
          <a:xfrm>
            <a:off x="144207" y="278788"/>
            <a:ext cx="465484" cy="274639"/>
            <a:chOff x="0" y="0"/>
            <a:chExt cx="698499" cy="549275"/>
          </a:xfrm>
        </p:grpSpPr>
        <p:sp>
          <p:nvSpPr>
            <p:cNvPr id="16" name="Freeform 16"/>
            <p:cNvSpPr/>
            <p:nvPr/>
          </p:nvSpPr>
          <p:spPr bwMode="auto">
            <a:xfrm>
              <a:off x="0" y="0"/>
              <a:ext cx="361950" cy="549275"/>
            </a:xfrm>
            <a:custGeom>
              <a:avLst/>
              <a:gdLst>
                <a:gd name="T0" fmla="*/ 4 w 400"/>
                <a:gd name="T1" fmla="*/ 92 h 608"/>
                <a:gd name="T2" fmla="*/ 96 w 400"/>
                <a:gd name="T3" fmla="*/ 0 h 608"/>
                <a:gd name="T4" fmla="*/ 400 w 400"/>
                <a:gd name="T5" fmla="*/ 304 h 608"/>
                <a:gd name="T6" fmla="*/ 96 w 400"/>
                <a:gd name="T7" fmla="*/ 608 h 608"/>
                <a:gd name="T8" fmla="*/ 0 w 400"/>
                <a:gd name="T9" fmla="*/ 512 h 608"/>
                <a:gd name="T10" fmla="*/ 212 w 400"/>
                <a:gd name="T11" fmla="*/ 300 h 608"/>
                <a:gd name="T12" fmla="*/ 4 w 400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00" h="608">
                  <a:moveTo>
                    <a:pt x="4" y="92"/>
                  </a:moveTo>
                  <a:lnTo>
                    <a:pt x="96" y="0"/>
                  </a:lnTo>
                  <a:lnTo>
                    <a:pt x="400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99FF"/>
                </a:gs>
                <a:gs pos="100000">
                  <a:srgbClr val="0000FF"/>
                </a:gs>
              </a:gsLst>
              <a:lin ang="10800000" scaled="1"/>
              <a:tileRect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defTabSz="914400"/>
              <a:endParaRPr lang="zh-CN" altLang="en-US" sz="18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endParaRPr>
            </a:p>
          </p:txBody>
        </p:sp>
        <p:sp>
          <p:nvSpPr>
            <p:cNvPr id="17" name="Freeform 17"/>
            <p:cNvSpPr/>
            <p:nvPr/>
          </p:nvSpPr>
          <p:spPr bwMode="auto">
            <a:xfrm>
              <a:off x="338137" y="0"/>
              <a:ext cx="360362" cy="549275"/>
            </a:xfrm>
            <a:custGeom>
              <a:avLst/>
              <a:gdLst>
                <a:gd name="T0" fmla="*/ 4 w 399"/>
                <a:gd name="T1" fmla="*/ 92 h 608"/>
                <a:gd name="T2" fmla="*/ 96 w 399"/>
                <a:gd name="T3" fmla="*/ 0 h 608"/>
                <a:gd name="T4" fmla="*/ 399 w 399"/>
                <a:gd name="T5" fmla="*/ 304 h 608"/>
                <a:gd name="T6" fmla="*/ 96 w 399"/>
                <a:gd name="T7" fmla="*/ 608 h 608"/>
                <a:gd name="T8" fmla="*/ 0 w 399"/>
                <a:gd name="T9" fmla="*/ 512 h 608"/>
                <a:gd name="T10" fmla="*/ 212 w 399"/>
                <a:gd name="T11" fmla="*/ 300 h 608"/>
                <a:gd name="T12" fmla="*/ 4 w 399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6" y="0"/>
                  </a:lnTo>
                  <a:lnTo>
                    <a:pt x="399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gradFill>
              <a:gsLst>
                <a:gs pos="0">
                  <a:srgbClr val="66CCFF"/>
                </a:gs>
                <a:gs pos="100000">
                  <a:srgbClr val="0099FF"/>
                </a:gs>
              </a:gsLst>
              <a:lin ang="108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defTabSz="914400"/>
              <a:endParaRPr lang="zh-CN" altLang="en-US" sz="18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endParaRPr>
            </a:p>
          </p:txBody>
        </p:sp>
      </p:grpSp>
      <p:sp>
        <p:nvSpPr>
          <p:cNvPr id="10" name="流程图: 延期 9"/>
          <p:cNvSpPr/>
          <p:nvPr userDrawn="1"/>
        </p:nvSpPr>
        <p:spPr>
          <a:xfrm flipH="1">
            <a:off x="11811000" y="6613025"/>
            <a:ext cx="347133" cy="216000"/>
          </a:xfrm>
          <a:prstGeom prst="flowChartDelay">
            <a:avLst/>
          </a:prstGeom>
          <a:solidFill>
            <a:srgbClr val="339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lide Number Placeholder 5"/>
          <p:cNvSpPr txBox="1"/>
          <p:nvPr userDrawn="1"/>
        </p:nvSpPr>
        <p:spPr>
          <a:xfrm>
            <a:off x="11778365" y="6595246"/>
            <a:ext cx="453041" cy="216000"/>
          </a:xfrm>
          <a:prstGeom prst="rect">
            <a:avLst/>
          </a:prstGeom>
        </p:spPr>
        <p:txBody>
          <a:bodyPr vert="horz" lIns="0" tIns="0" rIns="0" bIns="0" rtlCol="0" anchor="ctr" anchorCtr="1"/>
          <a:lstStyle>
            <a:defPPr>
              <a:defRPr lang="zh-CN"/>
            </a:defPPr>
            <a:lvl1pPr marL="0" algn="r" defTabSz="914400" rtl="0" eaLnBrk="1" latinLnBrk="0" hangingPunct="1">
              <a:defRPr sz="1200" b="1" kern="120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FDA168E-DF58-428E-B521-7D77D76010C6}" type="slidenum">
              <a:rPr lang="zh-CN" altLang="en-US" sz="1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‹#›</a:t>
            </a:fld>
            <a:endParaRPr lang="zh-CN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602" b="31977"/>
          <a:stretch>
            <a:fillRect/>
          </a:stretch>
        </p:blipFill>
        <p:spPr>
          <a:xfrm>
            <a:off x="8957460" y="47114"/>
            <a:ext cx="3072000" cy="79209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14F19-B349-47E4-8299-D1285E963E20}" type="datetimeFigureOut">
              <a:rPr lang="zh-CN" altLang="en-US" smtClean="0"/>
              <a:t>2025/10/14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220F5-3FF8-477C-A62F-10CB4E6F40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14F19-B349-47E4-8299-D1285E963E20}" type="datetimeFigureOut">
              <a:rPr lang="zh-CN" altLang="en-US" smtClean="0"/>
              <a:t>2025/10/14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220F5-3FF8-477C-A62F-10CB4E6F40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613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613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14F19-B349-47E4-8299-D1285E963E20}" type="datetimeFigureOut">
              <a:rPr lang="zh-CN" altLang="en-US" smtClean="0"/>
              <a:t>2025/10/14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220F5-3FF8-477C-A62F-10CB4E6F40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4102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54102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14F19-B349-47E4-8299-D1285E963E20}" type="datetimeFigureOut">
              <a:rPr lang="zh-CN" altLang="en-US" smtClean="0"/>
              <a:t>2025/10/14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220F5-3FF8-477C-A62F-10CB4E6F40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3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3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838" y="1535113"/>
            <a:ext cx="538956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838" y="2174875"/>
            <a:ext cx="538956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14F19-B349-47E4-8299-D1285E963E20}" type="datetimeFigureOut">
              <a:rPr lang="zh-CN" altLang="en-US" smtClean="0"/>
              <a:t>2025/10/14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220F5-3FF8-477C-A62F-10CB4E6F40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14F19-B349-47E4-8299-D1285E963E20}" type="datetimeFigureOut">
              <a:rPr lang="zh-CN" altLang="en-US" smtClean="0"/>
              <a:t>2025/10/14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220F5-3FF8-477C-A62F-10CB4E6F40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14F19-B349-47E4-8299-D1285E963E20}" type="datetimeFigureOut">
              <a:rPr lang="zh-CN" altLang="en-US" smtClean="0"/>
              <a:t>2025/10/14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220F5-3FF8-477C-A62F-10CB4E6F40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6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7263" y="273050"/>
            <a:ext cx="681513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6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14F19-B349-47E4-8299-D1285E963E20}" type="datetimeFigureOut">
              <a:rPr lang="zh-CN" altLang="en-US" smtClean="0"/>
              <a:t>2025/10/14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220F5-3FF8-477C-A62F-10CB4E6F40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188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188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188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14F19-B349-47E4-8299-D1285E963E20}" type="datetimeFigureOut">
              <a:rPr lang="zh-CN" altLang="en-US" smtClean="0"/>
              <a:t>2025/10/14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220F5-3FF8-477C-A62F-10CB4E6F40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14F19-B349-47E4-8299-D1285E963E20}" type="datetimeFigureOut">
              <a:rPr lang="zh-CN" altLang="en-US" smtClean="0"/>
              <a:t>2025/10/14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220F5-3FF8-477C-A62F-10CB4E6F40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772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14F19-B349-47E4-8299-D1285E963E20}" type="datetimeFigureOut">
              <a:rPr lang="zh-CN" altLang="en-US" smtClean="0"/>
              <a:t>2025/10/14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220F5-3FF8-477C-A62F-10CB4E6F40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15092"/>
            <a:ext cx="10515600" cy="3719245"/>
          </a:xfrm>
        </p:spPr>
        <p:txBody>
          <a:bodyPr/>
          <a:lstStyle>
            <a:lvl1pPr marL="228600" indent="-228600">
              <a:buFontTx/>
              <a:buBlip>
                <a:blip r:embed="rId2"/>
              </a:buBlip>
              <a:defRPr sz="2400" baseline="0"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>
              <a:defRPr baseline="0"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>
              <a:defRPr baseline="0"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>
              <a:defRPr baseline="0"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>
              <a:defRPr baseline="0"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14" name="矩形 13"/>
          <p:cNvSpPr/>
          <p:nvPr userDrawn="1"/>
        </p:nvSpPr>
        <p:spPr>
          <a:xfrm>
            <a:off x="0" y="782087"/>
            <a:ext cx="12192000" cy="18000"/>
          </a:xfrm>
          <a:prstGeom prst="rect">
            <a:avLst/>
          </a:prstGeom>
          <a:gradFill>
            <a:gsLst>
              <a:gs pos="0">
                <a:schemeClr val="accent1">
                  <a:lumMod val="40000"/>
                  <a:lumOff val="60000"/>
                </a:schemeClr>
              </a:gs>
              <a:gs pos="100000">
                <a:srgbClr val="0000FF"/>
              </a:gs>
            </a:gsLst>
            <a:lin ang="10800000" scaled="1"/>
          </a:gradFill>
          <a:ln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grpSp>
        <p:nvGrpSpPr>
          <p:cNvPr id="15" name="Group 7"/>
          <p:cNvGrpSpPr/>
          <p:nvPr userDrawn="1"/>
        </p:nvGrpSpPr>
        <p:grpSpPr bwMode="auto">
          <a:xfrm>
            <a:off x="144207" y="278788"/>
            <a:ext cx="465484" cy="274639"/>
            <a:chOff x="0" y="0"/>
            <a:chExt cx="698499" cy="549275"/>
          </a:xfrm>
        </p:grpSpPr>
        <p:sp>
          <p:nvSpPr>
            <p:cNvPr id="16" name="Freeform 16"/>
            <p:cNvSpPr/>
            <p:nvPr/>
          </p:nvSpPr>
          <p:spPr bwMode="auto">
            <a:xfrm>
              <a:off x="0" y="0"/>
              <a:ext cx="361950" cy="549275"/>
            </a:xfrm>
            <a:custGeom>
              <a:avLst/>
              <a:gdLst>
                <a:gd name="T0" fmla="*/ 4 w 400"/>
                <a:gd name="T1" fmla="*/ 92 h 608"/>
                <a:gd name="T2" fmla="*/ 96 w 400"/>
                <a:gd name="T3" fmla="*/ 0 h 608"/>
                <a:gd name="T4" fmla="*/ 400 w 400"/>
                <a:gd name="T5" fmla="*/ 304 h 608"/>
                <a:gd name="T6" fmla="*/ 96 w 400"/>
                <a:gd name="T7" fmla="*/ 608 h 608"/>
                <a:gd name="T8" fmla="*/ 0 w 400"/>
                <a:gd name="T9" fmla="*/ 512 h 608"/>
                <a:gd name="T10" fmla="*/ 212 w 400"/>
                <a:gd name="T11" fmla="*/ 300 h 608"/>
                <a:gd name="T12" fmla="*/ 4 w 400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00" h="608">
                  <a:moveTo>
                    <a:pt x="4" y="92"/>
                  </a:moveTo>
                  <a:lnTo>
                    <a:pt x="96" y="0"/>
                  </a:lnTo>
                  <a:lnTo>
                    <a:pt x="400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99FF"/>
                </a:gs>
                <a:gs pos="100000">
                  <a:srgbClr val="0000FF"/>
                </a:gs>
              </a:gsLst>
              <a:lin ang="10800000" scaled="1"/>
              <a:tileRect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defTabSz="914400"/>
              <a:endParaRPr lang="zh-CN" altLang="en-US" sz="18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endParaRPr>
            </a:p>
          </p:txBody>
        </p:sp>
        <p:sp>
          <p:nvSpPr>
            <p:cNvPr id="17" name="Freeform 17"/>
            <p:cNvSpPr/>
            <p:nvPr/>
          </p:nvSpPr>
          <p:spPr bwMode="auto">
            <a:xfrm>
              <a:off x="338137" y="0"/>
              <a:ext cx="360362" cy="549275"/>
            </a:xfrm>
            <a:custGeom>
              <a:avLst/>
              <a:gdLst>
                <a:gd name="T0" fmla="*/ 4 w 399"/>
                <a:gd name="T1" fmla="*/ 92 h 608"/>
                <a:gd name="T2" fmla="*/ 96 w 399"/>
                <a:gd name="T3" fmla="*/ 0 h 608"/>
                <a:gd name="T4" fmla="*/ 399 w 399"/>
                <a:gd name="T5" fmla="*/ 304 h 608"/>
                <a:gd name="T6" fmla="*/ 96 w 399"/>
                <a:gd name="T7" fmla="*/ 608 h 608"/>
                <a:gd name="T8" fmla="*/ 0 w 399"/>
                <a:gd name="T9" fmla="*/ 512 h 608"/>
                <a:gd name="T10" fmla="*/ 212 w 399"/>
                <a:gd name="T11" fmla="*/ 300 h 608"/>
                <a:gd name="T12" fmla="*/ 4 w 399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6" y="0"/>
                  </a:lnTo>
                  <a:lnTo>
                    <a:pt x="399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gradFill>
              <a:gsLst>
                <a:gs pos="0">
                  <a:srgbClr val="66CCFF"/>
                </a:gs>
                <a:gs pos="100000">
                  <a:srgbClr val="0099FF"/>
                </a:gs>
              </a:gsLst>
              <a:lin ang="108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defTabSz="914400"/>
              <a:endParaRPr lang="zh-CN" altLang="en-US" sz="18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endParaRPr>
            </a:p>
          </p:txBody>
        </p:sp>
      </p:grpSp>
      <p:sp>
        <p:nvSpPr>
          <p:cNvPr id="10" name="流程图: 延期 9"/>
          <p:cNvSpPr/>
          <p:nvPr userDrawn="1"/>
        </p:nvSpPr>
        <p:spPr>
          <a:xfrm flipH="1">
            <a:off x="11811000" y="6613025"/>
            <a:ext cx="347133" cy="216000"/>
          </a:xfrm>
          <a:prstGeom prst="flowChartDelay">
            <a:avLst/>
          </a:prstGeom>
          <a:solidFill>
            <a:srgbClr val="339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lide Number Placeholder 5"/>
          <p:cNvSpPr txBox="1"/>
          <p:nvPr userDrawn="1"/>
        </p:nvSpPr>
        <p:spPr>
          <a:xfrm>
            <a:off x="11778365" y="6595246"/>
            <a:ext cx="453041" cy="216000"/>
          </a:xfrm>
          <a:prstGeom prst="rect">
            <a:avLst/>
          </a:prstGeom>
        </p:spPr>
        <p:txBody>
          <a:bodyPr vert="horz" lIns="0" tIns="0" rIns="0" bIns="0" rtlCol="0" anchor="ctr" anchorCtr="1"/>
          <a:lstStyle>
            <a:defPPr>
              <a:defRPr lang="zh-CN"/>
            </a:defPPr>
            <a:lvl1pPr marL="0" algn="r" defTabSz="914400" rtl="0" eaLnBrk="1" latinLnBrk="0" hangingPunct="1">
              <a:defRPr sz="1200" b="1" kern="120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FDA168E-DF58-428E-B521-7D77D76010C6}" type="slidenum">
              <a:rPr lang="zh-CN" altLang="en-US" sz="1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‹#›</a:t>
            </a:fld>
            <a:endParaRPr lang="zh-CN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602" b="31977"/>
          <a:stretch>
            <a:fillRect/>
          </a:stretch>
        </p:blipFill>
        <p:spPr>
          <a:xfrm>
            <a:off x="8957460" y="47114"/>
            <a:ext cx="3072000" cy="79209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14F19-B349-47E4-8299-D1285E963E20}" type="datetimeFigureOut">
              <a:rPr lang="zh-CN" altLang="en-US" smtClean="0"/>
              <a:t>2025/10/14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220F5-3FF8-477C-A62F-10CB4E6F40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14F19-B349-47E4-8299-D1285E963E20}" type="datetimeFigureOut">
              <a:rPr lang="zh-CN" altLang="en-US" smtClean="0"/>
              <a:t>2025/10/14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220F5-3FF8-477C-A62F-10CB4E6F40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613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613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14F19-B349-47E4-8299-D1285E963E20}" type="datetimeFigureOut">
              <a:rPr lang="zh-CN" altLang="en-US" smtClean="0"/>
              <a:t>2025/10/14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220F5-3FF8-477C-A62F-10CB4E6F40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4102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54102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14F19-B349-47E4-8299-D1285E963E20}" type="datetimeFigureOut">
              <a:rPr lang="zh-CN" altLang="en-US" smtClean="0"/>
              <a:t>2025/10/14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220F5-3FF8-477C-A62F-10CB4E6F40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3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3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838" y="1535113"/>
            <a:ext cx="538956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838" y="2174875"/>
            <a:ext cx="538956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14F19-B349-47E4-8299-D1285E963E20}" type="datetimeFigureOut">
              <a:rPr lang="zh-CN" altLang="en-US" smtClean="0"/>
              <a:t>2025/10/14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220F5-3FF8-477C-A62F-10CB4E6F40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14F19-B349-47E4-8299-D1285E963E20}" type="datetimeFigureOut">
              <a:rPr lang="zh-CN" altLang="en-US" smtClean="0"/>
              <a:t>2025/10/14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220F5-3FF8-477C-A62F-10CB4E6F40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14F19-B349-47E4-8299-D1285E963E20}" type="datetimeFigureOut">
              <a:rPr lang="zh-CN" altLang="en-US" smtClean="0"/>
              <a:t>2025/10/14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220F5-3FF8-477C-A62F-10CB4E6F40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6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7263" y="273050"/>
            <a:ext cx="681513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6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14F19-B349-47E4-8299-D1285E963E20}" type="datetimeFigureOut">
              <a:rPr lang="zh-CN" altLang="en-US" smtClean="0"/>
              <a:t>2025/10/14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220F5-3FF8-477C-A62F-10CB4E6F40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188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188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188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14F19-B349-47E4-8299-D1285E963E20}" type="datetimeFigureOut">
              <a:rPr lang="zh-CN" altLang="en-US" smtClean="0"/>
              <a:t>2025/10/14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220F5-3FF8-477C-A62F-10CB4E6F40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14F19-B349-47E4-8299-D1285E963E20}" type="datetimeFigureOut">
              <a:rPr lang="zh-CN" altLang="en-US" smtClean="0"/>
              <a:t>2025/10/14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220F5-3FF8-477C-A62F-10CB4E6F40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772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14F19-B349-47E4-8299-D1285E963E20}" type="datetimeFigureOut">
              <a:rPr lang="zh-CN" altLang="en-US" smtClean="0"/>
              <a:t>2025/10/14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220F5-3FF8-477C-A62F-10CB4E6F40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15092"/>
            <a:ext cx="10515600" cy="3719245"/>
          </a:xfrm>
        </p:spPr>
        <p:txBody>
          <a:bodyPr/>
          <a:lstStyle>
            <a:lvl1pPr marL="228600" indent="-228600">
              <a:buFontTx/>
              <a:buBlip>
                <a:blip r:embed="rId2"/>
              </a:buBlip>
              <a:defRPr sz="2400" baseline="0"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>
              <a:defRPr baseline="0"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>
              <a:defRPr baseline="0"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>
              <a:defRPr baseline="0"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>
              <a:defRPr baseline="0"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14" name="矩形 13"/>
          <p:cNvSpPr/>
          <p:nvPr userDrawn="1"/>
        </p:nvSpPr>
        <p:spPr>
          <a:xfrm>
            <a:off x="0" y="782087"/>
            <a:ext cx="12192000" cy="18000"/>
          </a:xfrm>
          <a:prstGeom prst="rect">
            <a:avLst/>
          </a:prstGeom>
          <a:gradFill>
            <a:gsLst>
              <a:gs pos="0">
                <a:schemeClr val="accent1">
                  <a:lumMod val="40000"/>
                  <a:lumOff val="60000"/>
                </a:schemeClr>
              </a:gs>
              <a:gs pos="100000">
                <a:srgbClr val="0000FF"/>
              </a:gs>
            </a:gsLst>
            <a:lin ang="10800000" scaled="1"/>
          </a:gradFill>
          <a:ln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grpSp>
        <p:nvGrpSpPr>
          <p:cNvPr id="15" name="Group 7"/>
          <p:cNvGrpSpPr/>
          <p:nvPr userDrawn="1"/>
        </p:nvGrpSpPr>
        <p:grpSpPr bwMode="auto">
          <a:xfrm>
            <a:off x="144207" y="278788"/>
            <a:ext cx="465484" cy="274639"/>
            <a:chOff x="0" y="0"/>
            <a:chExt cx="698499" cy="549275"/>
          </a:xfrm>
        </p:grpSpPr>
        <p:sp>
          <p:nvSpPr>
            <p:cNvPr id="16" name="Freeform 16"/>
            <p:cNvSpPr/>
            <p:nvPr/>
          </p:nvSpPr>
          <p:spPr bwMode="auto">
            <a:xfrm>
              <a:off x="0" y="0"/>
              <a:ext cx="361950" cy="549275"/>
            </a:xfrm>
            <a:custGeom>
              <a:avLst/>
              <a:gdLst>
                <a:gd name="T0" fmla="*/ 4 w 400"/>
                <a:gd name="T1" fmla="*/ 92 h 608"/>
                <a:gd name="T2" fmla="*/ 96 w 400"/>
                <a:gd name="T3" fmla="*/ 0 h 608"/>
                <a:gd name="T4" fmla="*/ 400 w 400"/>
                <a:gd name="T5" fmla="*/ 304 h 608"/>
                <a:gd name="T6" fmla="*/ 96 w 400"/>
                <a:gd name="T7" fmla="*/ 608 h 608"/>
                <a:gd name="T8" fmla="*/ 0 w 400"/>
                <a:gd name="T9" fmla="*/ 512 h 608"/>
                <a:gd name="T10" fmla="*/ 212 w 400"/>
                <a:gd name="T11" fmla="*/ 300 h 608"/>
                <a:gd name="T12" fmla="*/ 4 w 400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00" h="608">
                  <a:moveTo>
                    <a:pt x="4" y="92"/>
                  </a:moveTo>
                  <a:lnTo>
                    <a:pt x="96" y="0"/>
                  </a:lnTo>
                  <a:lnTo>
                    <a:pt x="400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99FF"/>
                </a:gs>
                <a:gs pos="100000">
                  <a:srgbClr val="0000FF"/>
                </a:gs>
              </a:gsLst>
              <a:lin ang="10800000" scaled="1"/>
              <a:tileRect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defTabSz="914400"/>
              <a:endParaRPr lang="zh-CN" altLang="en-US" sz="18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endParaRPr>
            </a:p>
          </p:txBody>
        </p:sp>
        <p:sp>
          <p:nvSpPr>
            <p:cNvPr id="17" name="Freeform 17"/>
            <p:cNvSpPr/>
            <p:nvPr/>
          </p:nvSpPr>
          <p:spPr bwMode="auto">
            <a:xfrm>
              <a:off x="338137" y="0"/>
              <a:ext cx="360362" cy="549275"/>
            </a:xfrm>
            <a:custGeom>
              <a:avLst/>
              <a:gdLst>
                <a:gd name="T0" fmla="*/ 4 w 399"/>
                <a:gd name="T1" fmla="*/ 92 h 608"/>
                <a:gd name="T2" fmla="*/ 96 w 399"/>
                <a:gd name="T3" fmla="*/ 0 h 608"/>
                <a:gd name="T4" fmla="*/ 399 w 399"/>
                <a:gd name="T5" fmla="*/ 304 h 608"/>
                <a:gd name="T6" fmla="*/ 96 w 399"/>
                <a:gd name="T7" fmla="*/ 608 h 608"/>
                <a:gd name="T8" fmla="*/ 0 w 399"/>
                <a:gd name="T9" fmla="*/ 512 h 608"/>
                <a:gd name="T10" fmla="*/ 212 w 399"/>
                <a:gd name="T11" fmla="*/ 300 h 608"/>
                <a:gd name="T12" fmla="*/ 4 w 399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6" y="0"/>
                  </a:lnTo>
                  <a:lnTo>
                    <a:pt x="399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gradFill>
              <a:gsLst>
                <a:gs pos="0">
                  <a:srgbClr val="66CCFF"/>
                </a:gs>
                <a:gs pos="100000">
                  <a:srgbClr val="0099FF"/>
                </a:gs>
              </a:gsLst>
              <a:lin ang="108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defTabSz="914400"/>
              <a:endParaRPr lang="zh-CN" altLang="en-US" sz="18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endParaRPr>
            </a:p>
          </p:txBody>
        </p:sp>
      </p:grpSp>
      <p:sp>
        <p:nvSpPr>
          <p:cNvPr id="10" name="流程图: 延期 9"/>
          <p:cNvSpPr/>
          <p:nvPr userDrawn="1"/>
        </p:nvSpPr>
        <p:spPr>
          <a:xfrm flipH="1">
            <a:off x="11811000" y="6613025"/>
            <a:ext cx="347133" cy="216000"/>
          </a:xfrm>
          <a:prstGeom prst="flowChartDelay">
            <a:avLst/>
          </a:prstGeom>
          <a:solidFill>
            <a:srgbClr val="339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lide Number Placeholder 5"/>
          <p:cNvSpPr txBox="1"/>
          <p:nvPr userDrawn="1"/>
        </p:nvSpPr>
        <p:spPr>
          <a:xfrm>
            <a:off x="11778365" y="6595246"/>
            <a:ext cx="453041" cy="216000"/>
          </a:xfrm>
          <a:prstGeom prst="rect">
            <a:avLst/>
          </a:prstGeom>
        </p:spPr>
        <p:txBody>
          <a:bodyPr vert="horz" lIns="0" tIns="0" rIns="0" bIns="0" rtlCol="0" anchor="ctr" anchorCtr="1"/>
          <a:lstStyle>
            <a:defPPr>
              <a:defRPr lang="zh-CN"/>
            </a:defPPr>
            <a:lvl1pPr marL="0" algn="r" defTabSz="914400" rtl="0" eaLnBrk="1" latinLnBrk="0" hangingPunct="1">
              <a:defRPr sz="1200" b="1" kern="120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FDA168E-DF58-428E-B521-7D77D76010C6}" type="slidenum">
              <a:rPr lang="zh-CN" altLang="en-US" sz="1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‹#›</a:t>
            </a:fld>
            <a:endParaRPr lang="zh-CN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602" b="31977"/>
          <a:stretch>
            <a:fillRect/>
          </a:stretch>
        </p:blipFill>
        <p:spPr>
          <a:xfrm>
            <a:off x="8957460" y="47114"/>
            <a:ext cx="3072000" cy="79209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14F19-B349-47E4-8299-D1285E963E20}" type="datetimeFigureOut">
              <a:rPr lang="zh-CN" altLang="en-US" smtClean="0"/>
              <a:t>2025/10/14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220F5-3FF8-477C-A62F-10CB4E6F40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14F19-B349-47E4-8299-D1285E963E20}" type="datetimeFigureOut">
              <a:rPr lang="zh-CN" altLang="en-US" smtClean="0"/>
              <a:t>2025/10/14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220F5-3FF8-477C-A62F-10CB4E6F40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613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613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14F19-B349-47E4-8299-D1285E963E20}" type="datetimeFigureOut">
              <a:rPr lang="zh-CN" altLang="en-US" smtClean="0"/>
              <a:t>2025/10/14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220F5-3FF8-477C-A62F-10CB4E6F40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4102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54102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14F19-B349-47E4-8299-D1285E963E20}" type="datetimeFigureOut">
              <a:rPr lang="zh-CN" altLang="en-US" smtClean="0"/>
              <a:t>2025/10/14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220F5-3FF8-477C-A62F-10CB4E6F40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3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3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838" y="1535113"/>
            <a:ext cx="538956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838" y="2174875"/>
            <a:ext cx="538956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14F19-B349-47E4-8299-D1285E963E20}" type="datetimeFigureOut">
              <a:rPr lang="zh-CN" altLang="en-US" smtClean="0"/>
              <a:t>2025/10/14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220F5-3FF8-477C-A62F-10CB4E6F40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14F19-B349-47E4-8299-D1285E963E20}" type="datetimeFigureOut">
              <a:rPr lang="zh-CN" altLang="en-US" smtClean="0"/>
              <a:t>2025/10/14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220F5-3FF8-477C-A62F-10CB4E6F40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14F19-B349-47E4-8299-D1285E963E20}" type="datetimeFigureOut">
              <a:rPr lang="zh-CN" altLang="en-US" smtClean="0"/>
              <a:t>2025/10/14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220F5-3FF8-477C-A62F-10CB4E6F40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6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7263" y="273050"/>
            <a:ext cx="681513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6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14F19-B349-47E4-8299-D1285E963E20}" type="datetimeFigureOut">
              <a:rPr lang="zh-CN" altLang="en-US" smtClean="0"/>
              <a:t>2025/10/14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220F5-3FF8-477C-A62F-10CB4E6F40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188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188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188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14F19-B349-47E4-8299-D1285E963E20}" type="datetimeFigureOut">
              <a:rPr lang="zh-CN" altLang="en-US" smtClean="0"/>
              <a:t>2025/10/14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220F5-3FF8-477C-A62F-10CB4E6F40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14F19-B349-47E4-8299-D1285E963E20}" type="datetimeFigureOut">
              <a:rPr lang="zh-CN" altLang="en-US" smtClean="0"/>
              <a:t>2025/10/14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220F5-3FF8-477C-A62F-10CB4E6F40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772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14F19-B349-47E4-8299-D1285E963E20}" type="datetimeFigureOut">
              <a:rPr lang="zh-CN" altLang="en-US" smtClean="0"/>
              <a:t>2025/10/14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220F5-3FF8-477C-A62F-10CB4E6F40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15092"/>
            <a:ext cx="10515600" cy="3719245"/>
          </a:xfrm>
        </p:spPr>
        <p:txBody>
          <a:bodyPr/>
          <a:lstStyle>
            <a:lvl1pPr marL="228600" indent="-228600">
              <a:buFontTx/>
              <a:buBlip>
                <a:blip r:embed="rId2"/>
              </a:buBlip>
              <a:defRPr sz="2400" baseline="0"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>
              <a:defRPr baseline="0"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>
              <a:defRPr baseline="0"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>
              <a:defRPr baseline="0"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>
              <a:defRPr baseline="0"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14" name="矩形 13"/>
          <p:cNvSpPr/>
          <p:nvPr userDrawn="1"/>
        </p:nvSpPr>
        <p:spPr>
          <a:xfrm>
            <a:off x="0" y="782087"/>
            <a:ext cx="12192000" cy="18000"/>
          </a:xfrm>
          <a:prstGeom prst="rect">
            <a:avLst/>
          </a:prstGeom>
          <a:gradFill>
            <a:gsLst>
              <a:gs pos="0">
                <a:schemeClr val="accent1">
                  <a:lumMod val="40000"/>
                  <a:lumOff val="60000"/>
                </a:schemeClr>
              </a:gs>
              <a:gs pos="100000">
                <a:srgbClr val="0000FF"/>
              </a:gs>
            </a:gsLst>
            <a:lin ang="10800000" scaled="1"/>
          </a:gradFill>
          <a:ln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grpSp>
        <p:nvGrpSpPr>
          <p:cNvPr id="15" name="Group 7"/>
          <p:cNvGrpSpPr/>
          <p:nvPr userDrawn="1"/>
        </p:nvGrpSpPr>
        <p:grpSpPr bwMode="auto">
          <a:xfrm>
            <a:off x="144207" y="278788"/>
            <a:ext cx="465484" cy="274639"/>
            <a:chOff x="0" y="0"/>
            <a:chExt cx="698499" cy="549275"/>
          </a:xfrm>
        </p:grpSpPr>
        <p:sp>
          <p:nvSpPr>
            <p:cNvPr id="16" name="Freeform 16"/>
            <p:cNvSpPr/>
            <p:nvPr/>
          </p:nvSpPr>
          <p:spPr bwMode="auto">
            <a:xfrm>
              <a:off x="0" y="0"/>
              <a:ext cx="361950" cy="549275"/>
            </a:xfrm>
            <a:custGeom>
              <a:avLst/>
              <a:gdLst>
                <a:gd name="T0" fmla="*/ 4 w 400"/>
                <a:gd name="T1" fmla="*/ 92 h 608"/>
                <a:gd name="T2" fmla="*/ 96 w 400"/>
                <a:gd name="T3" fmla="*/ 0 h 608"/>
                <a:gd name="T4" fmla="*/ 400 w 400"/>
                <a:gd name="T5" fmla="*/ 304 h 608"/>
                <a:gd name="T6" fmla="*/ 96 w 400"/>
                <a:gd name="T7" fmla="*/ 608 h 608"/>
                <a:gd name="T8" fmla="*/ 0 w 400"/>
                <a:gd name="T9" fmla="*/ 512 h 608"/>
                <a:gd name="T10" fmla="*/ 212 w 400"/>
                <a:gd name="T11" fmla="*/ 300 h 608"/>
                <a:gd name="T12" fmla="*/ 4 w 400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00" h="608">
                  <a:moveTo>
                    <a:pt x="4" y="92"/>
                  </a:moveTo>
                  <a:lnTo>
                    <a:pt x="96" y="0"/>
                  </a:lnTo>
                  <a:lnTo>
                    <a:pt x="400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99FF"/>
                </a:gs>
                <a:gs pos="100000">
                  <a:srgbClr val="0000FF"/>
                </a:gs>
              </a:gsLst>
              <a:lin ang="10800000" scaled="1"/>
              <a:tileRect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defTabSz="914400"/>
              <a:endParaRPr lang="zh-CN" altLang="en-US" sz="18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endParaRPr>
            </a:p>
          </p:txBody>
        </p:sp>
        <p:sp>
          <p:nvSpPr>
            <p:cNvPr id="17" name="Freeform 17"/>
            <p:cNvSpPr/>
            <p:nvPr/>
          </p:nvSpPr>
          <p:spPr bwMode="auto">
            <a:xfrm>
              <a:off x="338137" y="0"/>
              <a:ext cx="360362" cy="549275"/>
            </a:xfrm>
            <a:custGeom>
              <a:avLst/>
              <a:gdLst>
                <a:gd name="T0" fmla="*/ 4 w 399"/>
                <a:gd name="T1" fmla="*/ 92 h 608"/>
                <a:gd name="T2" fmla="*/ 96 w 399"/>
                <a:gd name="T3" fmla="*/ 0 h 608"/>
                <a:gd name="T4" fmla="*/ 399 w 399"/>
                <a:gd name="T5" fmla="*/ 304 h 608"/>
                <a:gd name="T6" fmla="*/ 96 w 399"/>
                <a:gd name="T7" fmla="*/ 608 h 608"/>
                <a:gd name="T8" fmla="*/ 0 w 399"/>
                <a:gd name="T9" fmla="*/ 512 h 608"/>
                <a:gd name="T10" fmla="*/ 212 w 399"/>
                <a:gd name="T11" fmla="*/ 300 h 608"/>
                <a:gd name="T12" fmla="*/ 4 w 399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6" y="0"/>
                  </a:lnTo>
                  <a:lnTo>
                    <a:pt x="399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gradFill>
              <a:gsLst>
                <a:gs pos="0">
                  <a:srgbClr val="66CCFF"/>
                </a:gs>
                <a:gs pos="100000">
                  <a:srgbClr val="0099FF"/>
                </a:gs>
              </a:gsLst>
              <a:lin ang="108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defTabSz="914400"/>
              <a:endParaRPr lang="zh-CN" altLang="en-US" sz="18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endParaRPr>
            </a:p>
          </p:txBody>
        </p:sp>
      </p:grpSp>
      <p:sp>
        <p:nvSpPr>
          <p:cNvPr id="10" name="流程图: 延期 9"/>
          <p:cNvSpPr/>
          <p:nvPr userDrawn="1"/>
        </p:nvSpPr>
        <p:spPr>
          <a:xfrm flipH="1">
            <a:off x="11811000" y="6613025"/>
            <a:ext cx="347133" cy="216000"/>
          </a:xfrm>
          <a:prstGeom prst="flowChartDelay">
            <a:avLst/>
          </a:prstGeom>
          <a:solidFill>
            <a:srgbClr val="339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lide Number Placeholder 5"/>
          <p:cNvSpPr txBox="1"/>
          <p:nvPr userDrawn="1"/>
        </p:nvSpPr>
        <p:spPr>
          <a:xfrm>
            <a:off x="11778365" y="6595246"/>
            <a:ext cx="453041" cy="216000"/>
          </a:xfrm>
          <a:prstGeom prst="rect">
            <a:avLst/>
          </a:prstGeom>
        </p:spPr>
        <p:txBody>
          <a:bodyPr vert="horz" lIns="0" tIns="0" rIns="0" bIns="0" rtlCol="0" anchor="ctr" anchorCtr="1"/>
          <a:lstStyle>
            <a:defPPr>
              <a:defRPr lang="zh-CN"/>
            </a:defPPr>
            <a:lvl1pPr marL="0" algn="r" defTabSz="914400" rtl="0" eaLnBrk="1" latinLnBrk="0" hangingPunct="1">
              <a:defRPr sz="1200" b="1" kern="120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FDA168E-DF58-428E-B521-7D77D76010C6}" type="slidenum">
              <a:rPr lang="zh-CN" altLang="en-US" sz="1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‹#›</a:t>
            </a:fld>
            <a:endParaRPr lang="zh-CN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602" b="31977"/>
          <a:stretch>
            <a:fillRect/>
          </a:stretch>
        </p:blipFill>
        <p:spPr>
          <a:xfrm>
            <a:off x="8957460" y="47114"/>
            <a:ext cx="3072000" cy="792098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4" Type="http://schemas.openxmlformats.org/officeDocument/2006/relationships/image" Target="../media/image1.png"/><Relationship Id="rId15" Type="http://schemas.openxmlformats.org/officeDocument/2006/relationships/image" Target="../media/image2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3.xml"/><Relationship Id="rId12" Type="http://schemas.openxmlformats.org/officeDocument/2006/relationships/theme" Target="../theme/theme2.xml"/><Relationship Id="rId13" Type="http://schemas.openxmlformats.org/officeDocument/2006/relationships/image" Target="../media/image1.png"/><Relationship Id="rId14" Type="http://schemas.openxmlformats.org/officeDocument/2006/relationships/image" Target="../media/image2.png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5.xml"/><Relationship Id="rId13" Type="http://schemas.openxmlformats.org/officeDocument/2006/relationships/theme" Target="../theme/theme3.xml"/><Relationship Id="rId14" Type="http://schemas.openxmlformats.org/officeDocument/2006/relationships/image" Target="../media/image1.png"/><Relationship Id="rId15" Type="http://schemas.openxmlformats.org/officeDocument/2006/relationships/image" Target="../media/image2.png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9.xml"/><Relationship Id="rId5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47.xml"/><Relationship Id="rId13" Type="http://schemas.openxmlformats.org/officeDocument/2006/relationships/theme" Target="../theme/theme4.xml"/><Relationship Id="rId14" Type="http://schemas.openxmlformats.org/officeDocument/2006/relationships/image" Target="../media/image1.png"/><Relationship Id="rId15" Type="http://schemas.openxmlformats.org/officeDocument/2006/relationships/image" Target="../media/image2.png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slideLayout" Target="../slideLayouts/slideLayout49.xml"/><Relationship Id="rId3" Type="http://schemas.openxmlformats.org/officeDocument/2006/relationships/slideLayout" Target="../slideLayouts/slideLayout50.xml"/><Relationship Id="rId4" Type="http://schemas.openxmlformats.org/officeDocument/2006/relationships/slideLayout" Target="../slideLayouts/slideLayout51.xml"/><Relationship Id="rId5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3.xml"/><Relationship Id="rId7" Type="http://schemas.openxmlformats.org/officeDocument/2006/relationships/slideLayout" Target="../slideLayouts/slideLayout54.xml"/><Relationship Id="rId8" Type="http://schemas.openxmlformats.org/officeDocument/2006/relationships/slideLayout" Target="../slideLayouts/slideLayout55.xml"/><Relationship Id="rId9" Type="http://schemas.openxmlformats.org/officeDocument/2006/relationships/slideLayout" Target="../slideLayouts/slideLayout56.xml"/><Relationship Id="rId10" Type="http://schemas.openxmlformats.org/officeDocument/2006/relationships/slideLayout" Target="../slideLayouts/slideLayout57.xml"/><Relationship Id="rId11" Type="http://schemas.openxmlformats.org/officeDocument/2006/relationships/slideLayout" Target="../slideLayouts/slideLayout58.xml"/><Relationship Id="rId12" Type="http://schemas.openxmlformats.org/officeDocument/2006/relationships/slideLayout" Target="../slideLayouts/slideLayout59.xml"/><Relationship Id="rId13" Type="http://schemas.openxmlformats.org/officeDocument/2006/relationships/theme" Target="../theme/theme5.xml"/><Relationship Id="rId14" Type="http://schemas.openxmlformats.org/officeDocument/2006/relationships/image" Target="../media/image1.png"/><Relationship Id="rId15" Type="http://schemas.openxmlformats.org/officeDocument/2006/relationships/image" Target="../media/image2.png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0.xml"/><Relationship Id="rId2" Type="http://schemas.openxmlformats.org/officeDocument/2006/relationships/slideLayout" Target="../slideLayouts/slideLayout61.xml"/><Relationship Id="rId3" Type="http://schemas.openxmlformats.org/officeDocument/2006/relationships/slideLayout" Target="../slideLayouts/slideLayout62.xml"/><Relationship Id="rId4" Type="http://schemas.openxmlformats.org/officeDocument/2006/relationships/slideLayout" Target="../slideLayouts/slideLayout63.xml"/><Relationship Id="rId5" Type="http://schemas.openxmlformats.org/officeDocument/2006/relationships/slideLayout" Target="../slideLayouts/slideLayout64.xml"/><Relationship Id="rId6" Type="http://schemas.openxmlformats.org/officeDocument/2006/relationships/slideLayout" Target="../slideLayouts/slideLayout65.xml"/><Relationship Id="rId7" Type="http://schemas.openxmlformats.org/officeDocument/2006/relationships/slideLayout" Target="../slideLayouts/slideLayout66.xml"/><Relationship Id="rId8" Type="http://schemas.openxmlformats.org/officeDocument/2006/relationships/slideLayout" Target="../slideLayouts/slideLayout67.xml"/><Relationship Id="rId9" Type="http://schemas.openxmlformats.org/officeDocument/2006/relationships/slideLayout" Target="../slideLayouts/slideLayout68.xml"/><Relationship Id="rId10" Type="http://schemas.openxmlformats.org/officeDocument/2006/relationships/slideLayout" Target="../slideLayouts/slideLayout69.xml"/><Relationship Id="rId11" Type="http://schemas.openxmlformats.org/officeDocument/2006/relationships/slideLayout" Target="../slideLayouts/slideLayout70.xml"/><Relationship Id="rId12" Type="http://schemas.openxmlformats.org/officeDocument/2006/relationships/slideLayout" Target="../slideLayouts/slideLayout71.xml"/><Relationship Id="rId13" Type="http://schemas.openxmlformats.org/officeDocument/2006/relationships/theme" Target="../theme/theme6.xml"/><Relationship Id="rId14" Type="http://schemas.openxmlformats.org/officeDocument/2006/relationships/image" Target="../media/image1.png"/><Relationship Id="rId15" Type="http://schemas.openxmlformats.org/officeDocument/2006/relationships/image" Target="../media/image2.png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2.xml"/><Relationship Id="rId2" Type="http://schemas.openxmlformats.org/officeDocument/2006/relationships/slideLayout" Target="../slideLayouts/slideLayout73.xml"/><Relationship Id="rId3" Type="http://schemas.openxmlformats.org/officeDocument/2006/relationships/slideLayout" Target="../slideLayouts/slideLayout74.xml"/><Relationship Id="rId4" Type="http://schemas.openxmlformats.org/officeDocument/2006/relationships/slideLayout" Target="../slideLayouts/slideLayout75.xml"/><Relationship Id="rId5" Type="http://schemas.openxmlformats.org/officeDocument/2006/relationships/slideLayout" Target="../slideLayouts/slideLayout76.xml"/><Relationship Id="rId6" Type="http://schemas.openxmlformats.org/officeDocument/2006/relationships/slideLayout" Target="../slideLayouts/slideLayout77.xml"/><Relationship Id="rId7" Type="http://schemas.openxmlformats.org/officeDocument/2006/relationships/slideLayout" Target="../slideLayouts/slideLayout78.xml"/><Relationship Id="rId8" Type="http://schemas.openxmlformats.org/officeDocument/2006/relationships/slideLayout" Target="../slideLayouts/slideLayout79.xml"/><Relationship Id="rId9" Type="http://schemas.openxmlformats.org/officeDocument/2006/relationships/slideLayout" Target="../slideLayouts/slideLayout80.xml"/><Relationship Id="rId10" Type="http://schemas.openxmlformats.org/officeDocument/2006/relationships/slideLayout" Target="../slideLayouts/slideLayout81.xml"/><Relationship Id="rId11" Type="http://schemas.openxmlformats.org/officeDocument/2006/relationships/slideLayout" Target="../slideLayouts/slideLayout82.xml"/><Relationship Id="rId12" Type="http://schemas.openxmlformats.org/officeDocument/2006/relationships/slideLayout" Target="../slideLayouts/slideLayout83.xml"/><Relationship Id="rId13" Type="http://schemas.openxmlformats.org/officeDocument/2006/relationships/theme" Target="../theme/theme7.xml"/><Relationship Id="rId14" Type="http://schemas.openxmlformats.org/officeDocument/2006/relationships/image" Target="../media/image1.png"/><Relationship Id="rId15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5" y="167"/>
            <a:ext cx="12186529" cy="685766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7318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999242"/>
            <a:ext cx="10972800" cy="13197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C14F19-B349-47E4-8299-D1285E963E20}" type="datetimeFigureOut">
              <a:rPr lang="zh-CN" altLang="en-US" smtClean="0"/>
              <a:t>2025/10/14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785155" y="6556361"/>
            <a:ext cx="443345" cy="204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3E0220F5-3FF8-477C-A62F-10CB4E6F4091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3200" b="1" kern="1200" spc="100" baseline="0">
          <a:solidFill>
            <a:srgbClr val="000744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Tx/>
        <a:buBlip>
          <a:blip r:embed="rId15"/>
        </a:buBlip>
        <a:defRPr sz="2200" b="1" kern="1200">
          <a:solidFill>
            <a:srgbClr val="000744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5" y="167"/>
            <a:ext cx="12186529" cy="685766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7318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999242"/>
            <a:ext cx="10972800" cy="13197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C14F19-B349-47E4-8299-D1285E963E20}" type="datetimeFigureOut">
              <a:rPr lang="zh-CN" altLang="en-US" smtClean="0"/>
              <a:t>2025/10/14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785155" y="6556361"/>
            <a:ext cx="443345" cy="204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3E0220F5-3FF8-477C-A62F-10CB4E6F4091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3200" b="1" kern="1200" spc="100" baseline="0">
          <a:solidFill>
            <a:srgbClr val="000744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Tx/>
        <a:buBlip>
          <a:blip r:embed="rId14"/>
        </a:buBlip>
        <a:defRPr sz="2200" b="1" kern="1200">
          <a:solidFill>
            <a:srgbClr val="000744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5" y="167"/>
            <a:ext cx="12186529" cy="685766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7318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999242"/>
            <a:ext cx="10972800" cy="13197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C14F19-B349-47E4-8299-D1285E963E20}" type="datetimeFigureOut">
              <a:rPr lang="zh-CN" altLang="en-US" smtClean="0"/>
              <a:t>2025/10/14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785155" y="6556361"/>
            <a:ext cx="443345" cy="204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3E0220F5-3FF8-477C-A62F-10CB4E6F4091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  <p:sldLayoutId id="2147483697" r:id="rId12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3200" b="1" kern="1200" spc="100" baseline="0">
          <a:solidFill>
            <a:srgbClr val="000744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Tx/>
        <a:buBlip>
          <a:blip r:embed="rId15"/>
        </a:buBlip>
        <a:defRPr sz="2200" b="1" kern="1200">
          <a:solidFill>
            <a:srgbClr val="000744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5" y="167"/>
            <a:ext cx="12186529" cy="685766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7318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999242"/>
            <a:ext cx="10972800" cy="13197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C14F19-B349-47E4-8299-D1285E963E20}" type="datetimeFigureOut">
              <a:rPr lang="zh-CN" altLang="en-US" smtClean="0"/>
              <a:t>2025/10/14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785155" y="6556361"/>
            <a:ext cx="443345" cy="204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3E0220F5-3FF8-477C-A62F-10CB4E6F4091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51" r:id="rId1"/>
    <p:sldLayoutId id="2147483952" r:id="rId2"/>
    <p:sldLayoutId id="2147483953" r:id="rId3"/>
    <p:sldLayoutId id="2147483954" r:id="rId4"/>
    <p:sldLayoutId id="2147483955" r:id="rId5"/>
    <p:sldLayoutId id="2147483956" r:id="rId6"/>
    <p:sldLayoutId id="2147483957" r:id="rId7"/>
    <p:sldLayoutId id="2147483958" r:id="rId8"/>
    <p:sldLayoutId id="2147483959" r:id="rId9"/>
    <p:sldLayoutId id="2147483960" r:id="rId10"/>
    <p:sldLayoutId id="2147483961" r:id="rId11"/>
    <p:sldLayoutId id="2147483962" r:id="rId12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3200" b="1" kern="1200" spc="100" baseline="0">
          <a:solidFill>
            <a:srgbClr val="000744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Tx/>
        <a:buBlip>
          <a:blip r:embed="rId15"/>
        </a:buBlip>
        <a:defRPr sz="2200" b="1" kern="1200">
          <a:solidFill>
            <a:srgbClr val="000744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5" y="167"/>
            <a:ext cx="12186529" cy="685766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7318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999242"/>
            <a:ext cx="10972800" cy="13197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C14F19-B349-47E4-8299-D1285E963E20}" type="datetimeFigureOut">
              <a:rPr lang="zh-CN" altLang="en-US" smtClean="0"/>
              <a:t>2025/10/14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785155" y="6556361"/>
            <a:ext cx="443345" cy="204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3E0220F5-3FF8-477C-A62F-10CB4E6F4091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64" r:id="rId1"/>
    <p:sldLayoutId id="2147483965" r:id="rId2"/>
    <p:sldLayoutId id="2147483966" r:id="rId3"/>
    <p:sldLayoutId id="2147483967" r:id="rId4"/>
    <p:sldLayoutId id="2147483968" r:id="rId5"/>
    <p:sldLayoutId id="2147483969" r:id="rId6"/>
    <p:sldLayoutId id="2147483970" r:id="rId7"/>
    <p:sldLayoutId id="2147483971" r:id="rId8"/>
    <p:sldLayoutId id="2147483972" r:id="rId9"/>
    <p:sldLayoutId id="2147483973" r:id="rId10"/>
    <p:sldLayoutId id="2147483974" r:id="rId11"/>
    <p:sldLayoutId id="2147483975" r:id="rId12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3200" b="1" kern="1200" spc="100" baseline="0">
          <a:solidFill>
            <a:srgbClr val="000744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Tx/>
        <a:buBlip>
          <a:blip r:embed="rId15"/>
        </a:buBlip>
        <a:defRPr sz="2200" b="1" kern="1200">
          <a:solidFill>
            <a:srgbClr val="000744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5" y="167"/>
            <a:ext cx="12186529" cy="685766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7318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999242"/>
            <a:ext cx="10972800" cy="13197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C14F19-B349-47E4-8299-D1285E963E20}" type="datetimeFigureOut">
              <a:rPr lang="zh-CN" altLang="en-US" smtClean="0"/>
              <a:t>2025/10/14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785155" y="6556361"/>
            <a:ext cx="443345" cy="204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3E0220F5-3FF8-477C-A62F-10CB4E6F4091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90" r:id="rId1"/>
    <p:sldLayoutId id="2147483991" r:id="rId2"/>
    <p:sldLayoutId id="2147483992" r:id="rId3"/>
    <p:sldLayoutId id="2147483993" r:id="rId4"/>
    <p:sldLayoutId id="2147483994" r:id="rId5"/>
    <p:sldLayoutId id="2147483995" r:id="rId6"/>
    <p:sldLayoutId id="2147483996" r:id="rId7"/>
    <p:sldLayoutId id="2147483997" r:id="rId8"/>
    <p:sldLayoutId id="2147483998" r:id="rId9"/>
    <p:sldLayoutId id="2147483999" r:id="rId10"/>
    <p:sldLayoutId id="2147484000" r:id="rId11"/>
    <p:sldLayoutId id="2147484001" r:id="rId12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3200" b="1" kern="1200" spc="100" baseline="0">
          <a:solidFill>
            <a:srgbClr val="000744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Tx/>
        <a:buBlip>
          <a:blip r:embed="rId15"/>
        </a:buBlip>
        <a:defRPr sz="2200" b="1" kern="1200">
          <a:solidFill>
            <a:srgbClr val="000744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5" y="167"/>
            <a:ext cx="12186529" cy="685766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7318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999242"/>
            <a:ext cx="10972800" cy="13197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C14F19-B349-47E4-8299-D1285E963E20}" type="datetimeFigureOut">
              <a:rPr lang="zh-CN" altLang="en-US" smtClean="0"/>
              <a:t>2025/10/14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785155" y="6556361"/>
            <a:ext cx="443345" cy="204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3E0220F5-3FF8-477C-A62F-10CB4E6F4091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16" r:id="rId1"/>
    <p:sldLayoutId id="2147484017" r:id="rId2"/>
    <p:sldLayoutId id="2147484018" r:id="rId3"/>
    <p:sldLayoutId id="2147484019" r:id="rId4"/>
    <p:sldLayoutId id="2147484020" r:id="rId5"/>
    <p:sldLayoutId id="2147484021" r:id="rId6"/>
    <p:sldLayoutId id="2147484022" r:id="rId7"/>
    <p:sldLayoutId id="2147484023" r:id="rId8"/>
    <p:sldLayoutId id="2147484024" r:id="rId9"/>
    <p:sldLayoutId id="2147484025" r:id="rId10"/>
    <p:sldLayoutId id="2147484026" r:id="rId11"/>
    <p:sldLayoutId id="2147484027" r:id="rId12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3200" b="1" kern="1200" spc="100" baseline="0">
          <a:solidFill>
            <a:srgbClr val="000744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Tx/>
        <a:buBlip>
          <a:blip r:embed="rId15"/>
        </a:buBlip>
        <a:defRPr sz="2200" b="1" kern="1200">
          <a:solidFill>
            <a:srgbClr val="000744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904" y="18288"/>
            <a:ext cx="10972800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1F1F1F"/>
                </a:solidFill>
                <a:latin typeface="微软雅黑"/>
              </a:rPr>
              <a:t>研究内容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09904" y="704088"/>
            <a:ext cx="11021264" cy="0"/>
          </a:xfrm>
          <a:prstGeom prst="line">
            <a:avLst/>
          </a:prstGeom>
          <a:ln w="12700">
            <a:solidFill>
              <a:srgbClr val="DDE3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1649456" y="6556248"/>
            <a:ext cx="384048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555555"/>
                </a:solidFill>
                <a:latin typeface="Times New Roman"/>
              </a:rPr>
              <a:t>16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0352" y="841248"/>
            <a:ext cx="11137392" cy="5413248"/>
          </a:xfrm>
          <a:prstGeom prst="roundRect">
            <a:avLst/>
          </a:prstGeom>
          <a:solidFill>
            <a:srgbClr val="F7FAFF"/>
          </a:solidFill>
          <a:ln w="15875">
            <a:solidFill>
              <a:srgbClr val="192D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987552"/>
            <a:ext cx="4754880" cy="34747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100" b="1">
                <a:solidFill>
                  <a:srgbClr val="000E4F"/>
                </a:solidFill>
                <a:latin typeface="微软雅黑"/>
              </a:rPr>
              <a:t>第三部分：研究内容总体框架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417320"/>
            <a:ext cx="4800600" cy="98755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C00000"/>
                </a:solidFill>
                <a:latin typeface="微软雅黑"/>
              </a:rPr>
              <a:t>总体目标：</a:t>
            </a:r>
            <a:r>
              <a:rPr sz="1500" b="0">
                <a:solidFill>
                  <a:srgbClr val="1F1F1F"/>
                </a:solidFill>
                <a:latin typeface="微软雅黑"/>
              </a:rPr>
              <a:t>设计并实现面向传热学课程的交互式教学实验平台。</a:t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000E4F"/>
                </a:solidFill>
                <a:latin typeface="微软雅黑"/>
              </a:rPr>
              <a:t>研究主线：</a:t>
            </a:r>
            <a:r>
              <a:rPr sz="1500" b="0">
                <a:solidFill>
                  <a:srgbClr val="1F1F1F"/>
                </a:solidFill>
                <a:latin typeface="微软雅黑"/>
              </a:rPr>
              <a:t>以“身份权限—容器环境—作业评测—实验仿真—结果反馈”为闭环，将在线实验、自动评测和专业仿真统一到同一平台。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2148840"/>
            <a:ext cx="3246120" cy="566928"/>
          </a:xfrm>
          <a:prstGeom prst="roundRect">
            <a:avLst/>
          </a:prstGeom>
          <a:solidFill>
            <a:srgbClr val="FFFBE8"/>
          </a:solidFill>
          <a:ln w="13970">
            <a:solidFill>
              <a:srgbClr val="F2B8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800" b="1">
                <a:solidFill>
                  <a:srgbClr val="000E4F"/>
                </a:solidFill>
                <a:latin typeface="微软雅黑"/>
              </a:rPr>
              <a:t>交互式教学实验平台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2825496"/>
            <a:ext cx="384048" cy="384048"/>
          </a:xfrm>
          <a:prstGeom prst="ellipse">
            <a:avLst/>
          </a:prstGeom>
          <a:solidFill>
            <a:srgbClr val="192D96"/>
          </a:solidFill>
          <a:ln>
            <a:solidFill>
              <a:srgbClr val="192D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70432" y="2898648"/>
            <a:ext cx="1874519" cy="502920"/>
          </a:xfrm>
          <a:prstGeom prst="roundRect">
            <a:avLst/>
          </a:prstGeom>
          <a:solidFill>
            <a:srgbClr val="EAF0FF"/>
          </a:solidFill>
          <a:ln w="13970">
            <a:solidFill>
              <a:srgbClr val="192D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50" b="1">
                <a:solidFill>
                  <a:srgbClr val="000E4F"/>
                </a:solidFill>
                <a:latin typeface="微软雅黑"/>
              </a:rPr>
              <a:t>1 多用户容器化平台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103120" y="2642616"/>
            <a:ext cx="3813048" cy="82296"/>
          </a:xfrm>
          <a:prstGeom prst="line">
            <a:avLst/>
          </a:prstGeom>
          <a:ln w="15240">
            <a:solidFill>
              <a:srgbClr val="192D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3017520" y="2825496"/>
            <a:ext cx="384048" cy="384048"/>
          </a:xfrm>
          <a:prstGeom prst="ellipse">
            <a:avLst/>
          </a:prstGeom>
          <a:solidFill>
            <a:srgbClr val="1F8A70"/>
          </a:solidFill>
          <a:ln>
            <a:solidFill>
              <a:srgbClr val="1F8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38144" y="2898648"/>
            <a:ext cx="1874519" cy="502920"/>
          </a:xfrm>
          <a:prstGeom prst="roundRect">
            <a:avLst/>
          </a:prstGeom>
          <a:solidFill>
            <a:srgbClr val="EAF0FF"/>
          </a:solidFill>
          <a:ln w="13970">
            <a:solidFill>
              <a:srgbClr val="1F8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50" b="1">
                <a:solidFill>
                  <a:srgbClr val="000E4F"/>
                </a:solidFill>
                <a:latin typeface="微软雅黑"/>
              </a:rPr>
              <a:t>2 角色权限与课程分组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370832" y="2642616"/>
            <a:ext cx="1545336" cy="82296"/>
          </a:xfrm>
          <a:prstGeom prst="line">
            <a:avLst/>
          </a:prstGeom>
          <a:ln w="15240">
            <a:solidFill>
              <a:srgbClr val="1F8A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5285232" y="2825496"/>
            <a:ext cx="384048" cy="384048"/>
          </a:xfrm>
          <a:prstGeom prst="ellipse">
            <a:avLst/>
          </a:prstGeom>
          <a:solidFill>
            <a:srgbClr val="E0722A"/>
          </a:solidFill>
          <a:ln>
            <a:solidFill>
              <a:srgbClr val="E07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05856" y="2898648"/>
            <a:ext cx="1874519" cy="502920"/>
          </a:xfrm>
          <a:prstGeom prst="roundRect">
            <a:avLst/>
          </a:prstGeom>
          <a:solidFill>
            <a:srgbClr val="EAF0FF"/>
          </a:solidFill>
          <a:ln w="13970">
            <a:solidFill>
              <a:srgbClr val="E07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50" b="1">
                <a:solidFill>
                  <a:srgbClr val="000E4F"/>
                </a:solidFill>
                <a:latin typeface="微软雅黑"/>
              </a:rPr>
              <a:t>3 作业全生命周期评测</a:t>
            </a:r>
          </a:p>
        </p:txBody>
      </p:sp>
      <p:cxnSp>
        <p:nvCxnSpPr>
          <p:cNvPr id="17" name="Connector 16"/>
          <p:cNvCxnSpPr/>
          <p:nvPr/>
        </p:nvCxnSpPr>
        <p:spPr>
          <a:xfrm flipH="1">
            <a:off x="5916168" y="2642616"/>
            <a:ext cx="722376" cy="82296"/>
          </a:xfrm>
          <a:prstGeom prst="line">
            <a:avLst/>
          </a:prstGeom>
          <a:ln w="15240">
            <a:solidFill>
              <a:srgbClr val="E072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7552944" y="2825496"/>
            <a:ext cx="384048" cy="384048"/>
          </a:xfrm>
          <a:prstGeom prst="ellipse">
            <a:avLst/>
          </a:prstGeom>
          <a:solidFill>
            <a:srgbClr val="6A3D9A"/>
          </a:solidFill>
          <a:ln>
            <a:solidFill>
              <a:srgbClr val="6A3D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Times New Roman"/>
              </a:rPr>
              <a:t>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73567" y="2898648"/>
            <a:ext cx="1874519" cy="502920"/>
          </a:xfrm>
          <a:prstGeom prst="roundRect">
            <a:avLst/>
          </a:prstGeom>
          <a:solidFill>
            <a:srgbClr val="EAF0FF"/>
          </a:solidFill>
          <a:ln w="13970">
            <a:solidFill>
              <a:srgbClr val="6A3D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50" b="1">
                <a:solidFill>
                  <a:srgbClr val="000E4F"/>
                </a:solidFill>
                <a:latin typeface="微软雅黑"/>
              </a:rPr>
              <a:t>4 插件式实验工作台</a:t>
            </a:r>
          </a:p>
        </p:txBody>
      </p:sp>
      <p:cxnSp>
        <p:nvCxnSpPr>
          <p:cNvPr id="20" name="Connector 19"/>
          <p:cNvCxnSpPr/>
          <p:nvPr/>
        </p:nvCxnSpPr>
        <p:spPr>
          <a:xfrm flipH="1">
            <a:off x="5916168" y="2642616"/>
            <a:ext cx="2990088" cy="82296"/>
          </a:xfrm>
          <a:prstGeom prst="line">
            <a:avLst/>
          </a:prstGeom>
          <a:ln w="15240">
            <a:solidFill>
              <a:srgbClr val="6A3D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4151376" y="4197096"/>
            <a:ext cx="384048" cy="384048"/>
          </a:xfrm>
          <a:prstGeom prst="ellipse">
            <a:avLst/>
          </a:prstGeom>
          <a:solidFill>
            <a:srgbClr val="007A99"/>
          </a:solidFill>
          <a:ln>
            <a:solidFill>
              <a:srgbClr val="007A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Times New Roman"/>
              </a:rPr>
              <a:t>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0" y="4270248"/>
            <a:ext cx="2788920" cy="502920"/>
          </a:xfrm>
          <a:prstGeom prst="roundRect">
            <a:avLst/>
          </a:prstGeom>
          <a:solidFill>
            <a:srgbClr val="EAF0FF"/>
          </a:solidFill>
          <a:ln w="13970">
            <a:solidFill>
              <a:srgbClr val="007A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50" b="1">
                <a:solidFill>
                  <a:srgbClr val="000E4F"/>
                </a:solidFill>
                <a:latin typeface="微软雅黑"/>
              </a:rPr>
              <a:t>5 传热学数值仿真模块</a:t>
            </a:r>
          </a:p>
        </p:txBody>
      </p:sp>
      <p:cxnSp>
        <p:nvCxnSpPr>
          <p:cNvPr id="23" name="Connector 22"/>
          <p:cNvCxnSpPr/>
          <p:nvPr/>
        </p:nvCxnSpPr>
        <p:spPr>
          <a:xfrm flipV="1">
            <a:off x="5504688" y="2724912"/>
            <a:ext cx="411480" cy="1069848"/>
          </a:xfrm>
          <a:prstGeom prst="line">
            <a:avLst/>
          </a:prstGeom>
          <a:ln w="15240">
            <a:solidFill>
              <a:srgbClr val="007A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1051560" y="5230368"/>
            <a:ext cx="10012680" cy="438912"/>
          </a:xfrm>
          <a:prstGeom prst="roundRect">
            <a:avLst/>
          </a:prstGeom>
          <a:solidFill>
            <a:srgbClr val="F4F6FF"/>
          </a:solidFill>
          <a:ln w="13970">
            <a:solidFill>
              <a:srgbClr val="192D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50" b="1">
                <a:solidFill>
                  <a:srgbClr val="000E4F"/>
                </a:solidFill>
                <a:latin typeface="微软雅黑"/>
              </a:rPr>
              <a:t>最终形成：登录注册 → 容器启动 → 在线 IDE → 作业评测 / 仿真实验 → Notebook 留痕与反馈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" y="5760720"/>
            <a:ext cx="1024128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50" b="0">
                <a:solidFill>
                  <a:srgbClr val="555555"/>
                </a:solidFill>
                <a:latin typeface="微软雅黑"/>
              </a:rPr>
              <a:t>本页图示：五项研究内容不是孤立模块，而是共同支撑一个可运行、可教学、可扩展的实验平台。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904" y="18288"/>
            <a:ext cx="10972800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1F1F1F"/>
                </a:solidFill>
                <a:latin typeface="微软雅黑"/>
              </a:rPr>
              <a:t>研究内容（一）：多用户容器化教学平台架构设计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09904" y="704088"/>
            <a:ext cx="11021264" cy="0"/>
          </a:xfrm>
          <a:prstGeom prst="line">
            <a:avLst/>
          </a:prstGeom>
          <a:ln w="12700">
            <a:solidFill>
              <a:srgbClr val="DDE3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1649456" y="6556248"/>
            <a:ext cx="384048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555555"/>
                </a:solidFill>
                <a:latin typeface="Times New Roman"/>
              </a:rPr>
              <a:t>17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0352" y="841248"/>
            <a:ext cx="11137392" cy="5413248"/>
          </a:xfrm>
          <a:prstGeom prst="roundRect">
            <a:avLst/>
          </a:prstGeom>
          <a:solidFill>
            <a:srgbClr val="F7FAFF"/>
          </a:solidFill>
          <a:ln w="15875">
            <a:solidFill>
              <a:srgbClr val="192D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" y="987552"/>
            <a:ext cx="2011680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1">
                <a:solidFill>
                  <a:srgbClr val="000E4F"/>
                </a:solidFill>
                <a:latin typeface="微软雅黑"/>
              </a:rPr>
              <a:t>研究目标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1389888"/>
            <a:ext cx="3886200" cy="32461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700"/>
              </a:spcAft>
            </a:pPr>
            <a:r>
              <a:rPr sz="1430" b="1">
                <a:solidFill>
                  <a:srgbClr val="C00000"/>
                </a:solidFill>
                <a:latin typeface="微软雅黑"/>
              </a:rPr>
              <a:t>环境隔离：</a:t>
            </a:r>
            <a:r>
              <a:rPr sz="1430" b="0">
                <a:solidFill>
                  <a:srgbClr val="1F1F1F"/>
                </a:solidFill>
                <a:latin typeface="微软雅黑"/>
              </a:rPr>
              <a:t>每位用户拥有独立运行空间，避免依赖冲突和文件互相影响。</a:t>
            </a:r>
          </a:p>
          <a:p>
            <a:pPr algn="l">
              <a:spcAft>
                <a:spcPts val="700"/>
              </a:spcAft>
            </a:pPr>
            <a:r>
              <a:rPr sz="1430" b="1">
                <a:solidFill>
                  <a:srgbClr val="000E4F"/>
                </a:solidFill>
                <a:latin typeface="微软雅黑"/>
              </a:rPr>
              <a:t>动态调度：</a:t>
            </a:r>
            <a:r>
              <a:rPr sz="1430" b="0">
                <a:solidFill>
                  <a:srgbClr val="1F1F1F"/>
                </a:solidFill>
                <a:latin typeface="微软雅黑"/>
              </a:rPr>
              <a:t>登录后自动创建用户服务器，退出或停止后释放容器资源。</a:t>
            </a:r>
          </a:p>
          <a:p>
            <a:pPr algn="l">
              <a:spcAft>
                <a:spcPts val="700"/>
              </a:spcAft>
            </a:pPr>
            <a:r>
              <a:rPr sz="1430" b="1">
                <a:solidFill>
                  <a:srgbClr val="000E4F"/>
                </a:solidFill>
                <a:latin typeface="微软雅黑"/>
              </a:rPr>
              <a:t>统一入口：</a:t>
            </a:r>
            <a:r>
              <a:rPr sz="1430" b="0">
                <a:solidFill>
                  <a:srgbClr val="1F1F1F"/>
                </a:solidFill>
                <a:latin typeface="微软雅黑"/>
              </a:rPr>
              <a:t>浏览器访问统一门户，由反向代理分发到对应用户环境。</a:t>
            </a:r>
          </a:p>
          <a:p>
            <a:pPr algn="l">
              <a:spcAft>
                <a:spcPts val="700"/>
              </a:spcAft>
            </a:pPr>
            <a:r>
              <a:rPr sz="1430" b="1">
                <a:solidFill>
                  <a:srgbClr val="000E4F"/>
                </a:solidFill>
                <a:latin typeface="微软雅黑"/>
              </a:rPr>
              <a:t>持久存储：</a:t>
            </a:r>
            <a:r>
              <a:rPr sz="1430" b="0">
                <a:solidFill>
                  <a:srgbClr val="1F1F1F"/>
                </a:solidFill>
                <a:latin typeface="微软雅黑"/>
              </a:rPr>
              <a:t>用户家目录、课程目录和作业交换目录分别挂载，保证数据可追溯。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32120" y="1051560"/>
            <a:ext cx="1417320" cy="438912"/>
          </a:xfrm>
          <a:prstGeom prst="roundRect">
            <a:avLst/>
          </a:prstGeom>
          <a:solidFill>
            <a:srgbClr val="FFFBE8"/>
          </a:solidFill>
          <a:ln w="13970">
            <a:solidFill>
              <a:srgbClr val="F2B8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>
                <a:solidFill>
                  <a:srgbClr val="000E4F"/>
                </a:solidFill>
                <a:latin typeface="微软雅黑"/>
              </a:rPr>
              <a:t>浏览器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236208" y="1490472"/>
            <a:ext cx="0" cy="365759"/>
          </a:xfrm>
          <a:prstGeom prst="line">
            <a:avLst/>
          </a:prstGeom>
          <a:ln w="21590">
            <a:solidFill>
              <a:srgbClr val="192D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983480" y="1856231"/>
            <a:ext cx="2542032" cy="502920"/>
          </a:xfrm>
          <a:prstGeom prst="roundRect">
            <a:avLst/>
          </a:prstGeom>
          <a:solidFill>
            <a:srgbClr val="EAF0FF"/>
          </a:solidFill>
          <a:ln w="13970">
            <a:solidFill>
              <a:srgbClr val="192D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>
                <a:solidFill>
                  <a:srgbClr val="000E4F"/>
                </a:solidFill>
                <a:latin typeface="微软雅黑"/>
              </a:rPr>
              <a:t>统一门户 / 反向代理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236208" y="2359152"/>
            <a:ext cx="0" cy="384048"/>
          </a:xfrm>
          <a:prstGeom prst="line">
            <a:avLst/>
          </a:prstGeom>
          <a:ln w="21590">
            <a:solidFill>
              <a:srgbClr val="192D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193792" y="2743200"/>
            <a:ext cx="2084831" cy="502920"/>
          </a:xfrm>
          <a:prstGeom prst="roundRect">
            <a:avLst/>
          </a:prstGeom>
          <a:solidFill>
            <a:srgbClr val="EAF0FF"/>
          </a:solidFill>
          <a:ln w="13970">
            <a:solidFill>
              <a:srgbClr val="1F8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>
                <a:solidFill>
                  <a:srgbClr val="000E4F"/>
                </a:solidFill>
                <a:latin typeface="微软雅黑"/>
              </a:rPr>
              <a:t>容器调度器</a:t>
            </a:r>
          </a:p>
        </p:txBody>
      </p:sp>
      <p:cxnSp>
        <p:nvCxnSpPr>
          <p:cNvPr id="13" name="Connector 12"/>
          <p:cNvCxnSpPr/>
          <p:nvPr/>
        </p:nvCxnSpPr>
        <p:spPr>
          <a:xfrm flipH="1">
            <a:off x="5029200" y="3246120"/>
            <a:ext cx="1207008" cy="438912"/>
          </a:xfrm>
          <a:prstGeom prst="line">
            <a:avLst/>
          </a:prstGeom>
          <a:ln w="13970">
            <a:solidFill>
              <a:srgbClr val="192D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343400" y="3703320"/>
            <a:ext cx="1417320" cy="841248"/>
          </a:xfrm>
          <a:prstGeom prst="roundRect">
            <a:avLst/>
          </a:prstGeom>
          <a:solidFill>
            <a:srgbClr val="F8FBFF"/>
          </a:solidFill>
          <a:ln w="13970">
            <a:solidFill>
              <a:srgbClr val="192D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30" b="1">
                <a:solidFill>
                  <a:srgbClr val="000E4F"/>
                </a:solidFill>
                <a:latin typeface="微软雅黑"/>
              </a:rPr>
              <a:t>教师容器
JupyterLab + 作业/仿真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236208" y="3246120"/>
            <a:ext cx="438912" cy="438912"/>
          </a:xfrm>
          <a:prstGeom prst="line">
            <a:avLst/>
          </a:prstGeom>
          <a:ln w="13970">
            <a:solidFill>
              <a:srgbClr val="1F8A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989320" y="3703320"/>
            <a:ext cx="1417320" cy="841248"/>
          </a:xfrm>
          <a:prstGeom prst="roundRect">
            <a:avLst/>
          </a:prstGeom>
          <a:solidFill>
            <a:srgbClr val="F8FBFF"/>
          </a:solidFill>
          <a:ln w="13970">
            <a:solidFill>
              <a:srgbClr val="1F8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30" b="1">
                <a:solidFill>
                  <a:srgbClr val="000E4F"/>
                </a:solidFill>
                <a:latin typeface="微软雅黑"/>
              </a:rPr>
              <a:t>学生容器 A
JupyterLab + 作业/仿真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236208" y="3246120"/>
            <a:ext cx="2084832" cy="438912"/>
          </a:xfrm>
          <a:prstGeom prst="line">
            <a:avLst/>
          </a:prstGeom>
          <a:ln w="13970">
            <a:solidFill>
              <a:srgbClr val="E072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635240" y="3703320"/>
            <a:ext cx="1417320" cy="841248"/>
          </a:xfrm>
          <a:prstGeom prst="roundRect">
            <a:avLst/>
          </a:prstGeom>
          <a:solidFill>
            <a:srgbClr val="F8FBFF"/>
          </a:solidFill>
          <a:ln w="13970">
            <a:solidFill>
              <a:srgbClr val="E07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30" b="1">
                <a:solidFill>
                  <a:srgbClr val="000E4F"/>
                </a:solidFill>
                <a:latin typeface="微软雅黑"/>
              </a:rPr>
              <a:t>学生容器 B
JupyterLab + 作业/仿真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43400" y="4992624"/>
            <a:ext cx="1481328" cy="603504"/>
          </a:xfrm>
          <a:prstGeom prst="roundRect">
            <a:avLst/>
          </a:prstGeom>
          <a:solidFill>
            <a:srgbClr val="F9F9F9"/>
          </a:solidFill>
          <a:ln w="1397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1F1F1F"/>
                </a:solidFill>
                <a:latin typeface="微软雅黑"/>
              </a:rPr>
              <a:t>用户持久卷
/home/jovyan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992624"/>
            <a:ext cx="1719072" cy="603504"/>
          </a:xfrm>
          <a:prstGeom prst="roundRect">
            <a:avLst/>
          </a:prstGeom>
          <a:solidFill>
            <a:srgbClr val="F9F9F9"/>
          </a:solidFill>
          <a:ln w="1397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1F1F1F"/>
                </a:solidFill>
                <a:latin typeface="微软雅黑"/>
              </a:rPr>
              <a:t>课程目录
courses/{course_id}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47888" y="4992624"/>
            <a:ext cx="2011680" cy="603504"/>
          </a:xfrm>
          <a:prstGeom prst="roundRect">
            <a:avLst/>
          </a:prstGeom>
          <a:solidFill>
            <a:srgbClr val="F9F9F9"/>
          </a:solidFill>
          <a:ln w="1397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1">
                <a:solidFill>
                  <a:srgbClr val="1F1F1F"/>
                </a:solidFill>
                <a:latin typeface="微软雅黑"/>
              </a:rPr>
              <a:t>作业交换区
/srv/nbgrader/exchange</a:t>
            </a:r>
          </a:p>
        </p:txBody>
      </p:sp>
      <p:cxnSp>
        <p:nvCxnSpPr>
          <p:cNvPr id="22" name="Connector 21"/>
          <p:cNvCxnSpPr/>
          <p:nvPr/>
        </p:nvCxnSpPr>
        <p:spPr>
          <a:xfrm flipV="1">
            <a:off x="5074920" y="4617720"/>
            <a:ext cx="0" cy="301752"/>
          </a:xfrm>
          <a:prstGeom prst="line">
            <a:avLst/>
          </a:prstGeom>
          <a:ln w="1270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7040880" y="4617720"/>
            <a:ext cx="0" cy="301752"/>
          </a:xfrm>
          <a:prstGeom prst="line">
            <a:avLst/>
          </a:prstGeom>
          <a:ln w="1270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9253728" y="4617720"/>
            <a:ext cx="0" cy="301752"/>
          </a:xfrm>
          <a:prstGeom prst="line">
            <a:avLst/>
          </a:prstGeom>
          <a:ln w="1270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841248" y="5166360"/>
            <a:ext cx="3657600" cy="4023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50" b="1">
                <a:solidFill>
                  <a:srgbClr val="C00000"/>
                </a:solidFill>
                <a:latin typeface="微软雅黑"/>
              </a:rPr>
              <a:t>关键实现：容器化沙箱 + 动态挂载 + 默认进入在线 IDE。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904" y="18288"/>
            <a:ext cx="10972800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1F1F1F"/>
                </a:solidFill>
                <a:latin typeface="微软雅黑"/>
              </a:rPr>
              <a:t>研究内容（二）：角色权限与课程分组机制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09904" y="704088"/>
            <a:ext cx="11021264" cy="0"/>
          </a:xfrm>
          <a:prstGeom prst="line">
            <a:avLst/>
          </a:prstGeom>
          <a:ln w="12700">
            <a:solidFill>
              <a:srgbClr val="DDE3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1649456" y="6556248"/>
            <a:ext cx="384048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555555"/>
                </a:solidFill>
                <a:latin typeface="Times New Roman"/>
              </a:rPr>
              <a:t>18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0352" y="841248"/>
            <a:ext cx="11137392" cy="5413248"/>
          </a:xfrm>
          <a:prstGeom prst="roundRect">
            <a:avLst/>
          </a:prstGeom>
          <a:solidFill>
            <a:srgbClr val="F7FAFF"/>
          </a:solidFill>
          <a:ln w="15875">
            <a:solidFill>
              <a:srgbClr val="192D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" y="987552"/>
            <a:ext cx="566928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1">
                <a:solidFill>
                  <a:srgbClr val="000E4F"/>
                </a:solidFill>
                <a:latin typeface="微软雅黑"/>
              </a:rPr>
              <a:t>核心思想：用课程分组驱动整个平台权限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1417320"/>
            <a:ext cx="4754880" cy="19659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700"/>
              </a:spcAft>
            </a:pPr>
            <a:r>
              <a:rPr sz="1450" b="1">
                <a:solidFill>
                  <a:srgbClr val="C00000"/>
                </a:solidFill>
                <a:latin typeface="微软雅黑"/>
              </a:rPr>
              <a:t>角色感知注册：</a:t>
            </a:r>
            <a:r>
              <a:rPr sz="1450" b="0">
                <a:solidFill>
                  <a:srgbClr val="1F1F1F"/>
                </a:solidFill>
                <a:latin typeface="微软雅黑"/>
              </a:rPr>
              <a:t>注册时选择教师/学生并填写课程 ID，系统自动建立身份与课程关系。</a:t>
            </a:r>
          </a:p>
          <a:p>
            <a:pPr algn="l">
              <a:spcAft>
                <a:spcPts val="700"/>
              </a:spcAft>
            </a:pPr>
            <a:r>
              <a:rPr sz="1450" b="1">
                <a:solidFill>
                  <a:srgbClr val="000E4F"/>
                </a:solidFill>
                <a:latin typeface="微软雅黑"/>
              </a:rPr>
              <a:t>课程分组命名：</a:t>
            </a:r>
            <a:r>
              <a:rPr sz="1450" b="0">
                <a:solidFill>
                  <a:srgbClr val="1F1F1F"/>
                </a:solidFill>
                <a:latin typeface="微软雅黑"/>
              </a:rPr>
              <a:t>formgrade-{course_id} 表示教师管理组；nbgrader-{course_id} 表示学生学习组；teachers 表示全局教师组。</a:t>
            </a:r>
          </a:p>
          <a:p>
            <a:pPr algn="l">
              <a:spcAft>
                <a:spcPts val="700"/>
              </a:spcAft>
            </a:pPr>
            <a:r>
              <a:rPr sz="1450" b="1">
                <a:solidFill>
                  <a:srgbClr val="000E4F"/>
                </a:solidFill>
                <a:latin typeface="微软雅黑"/>
              </a:rPr>
              <a:t>权限闭环：</a:t>
            </a:r>
            <a:r>
              <a:rPr sz="1450" b="0">
                <a:solidFill>
                  <a:srgbClr val="1F1F1F"/>
                </a:solidFill>
                <a:latin typeface="微软雅黑"/>
              </a:rPr>
              <a:t>分组信息同时影响容器挂载、作业可见性、前端菜单与后端接口。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794760"/>
            <a:ext cx="1325880" cy="530352"/>
          </a:xfrm>
          <a:prstGeom prst="roundRect">
            <a:avLst/>
          </a:prstGeom>
          <a:solidFill>
            <a:srgbClr val="EAF0FF"/>
          </a:solidFill>
          <a:ln w="13970">
            <a:solidFill>
              <a:srgbClr val="192D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40" b="1">
                <a:solidFill>
                  <a:srgbClr val="000E4F"/>
                </a:solidFill>
                <a:latin typeface="微软雅黑"/>
              </a:rPr>
              <a:t>注册表单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240280" y="4059936"/>
            <a:ext cx="365760" cy="0"/>
          </a:xfrm>
          <a:prstGeom prst="line">
            <a:avLst/>
          </a:prstGeom>
          <a:ln w="16510">
            <a:solidFill>
              <a:srgbClr val="192D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606040" y="3794760"/>
            <a:ext cx="1325880" cy="530352"/>
          </a:xfrm>
          <a:prstGeom prst="roundRect">
            <a:avLst/>
          </a:prstGeom>
          <a:solidFill>
            <a:srgbClr val="EAF0FF"/>
          </a:solidFill>
          <a:ln w="13970">
            <a:solidFill>
              <a:srgbClr val="1F8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40" b="1">
                <a:solidFill>
                  <a:srgbClr val="000E4F"/>
                </a:solidFill>
                <a:latin typeface="微软雅黑"/>
              </a:rPr>
              <a:t>角色/课程解析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931920" y="4059936"/>
            <a:ext cx="621792" cy="0"/>
          </a:xfrm>
          <a:prstGeom prst="line">
            <a:avLst/>
          </a:prstGeom>
          <a:ln w="16510">
            <a:solidFill>
              <a:srgbClr val="192D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553712" y="3794760"/>
            <a:ext cx="1325880" cy="530352"/>
          </a:xfrm>
          <a:prstGeom prst="roundRect">
            <a:avLst/>
          </a:prstGeom>
          <a:solidFill>
            <a:srgbClr val="EAF0FF"/>
          </a:solidFill>
          <a:ln w="13970">
            <a:solidFill>
              <a:srgbClr val="E07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40" b="1">
                <a:solidFill>
                  <a:srgbClr val="000E4F"/>
                </a:solidFill>
                <a:latin typeface="微软雅黑"/>
              </a:rPr>
              <a:t>写入用户分组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879592" y="4059936"/>
            <a:ext cx="566928" cy="0"/>
          </a:xfrm>
          <a:prstGeom prst="line">
            <a:avLst/>
          </a:prstGeom>
          <a:ln w="16510">
            <a:solidFill>
              <a:srgbClr val="192D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446520" y="3794760"/>
            <a:ext cx="1325880" cy="530352"/>
          </a:xfrm>
          <a:prstGeom prst="roundRect">
            <a:avLst/>
          </a:prstGeom>
          <a:solidFill>
            <a:srgbClr val="EAF0FF"/>
          </a:solidFill>
          <a:ln w="13970">
            <a:solidFill>
              <a:srgbClr val="6A3D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40" b="1">
                <a:solidFill>
                  <a:srgbClr val="000E4F"/>
                </a:solidFill>
                <a:latin typeface="微软雅黑"/>
              </a:rPr>
              <a:t>启动容器环境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772400" y="4059936"/>
            <a:ext cx="594360" cy="0"/>
          </a:xfrm>
          <a:prstGeom prst="line">
            <a:avLst/>
          </a:prstGeom>
          <a:ln w="16510">
            <a:solidFill>
              <a:srgbClr val="192D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366760" y="3794760"/>
            <a:ext cx="1325880" cy="530352"/>
          </a:xfrm>
          <a:prstGeom prst="roundRect">
            <a:avLst/>
          </a:prstGeom>
          <a:solidFill>
            <a:srgbClr val="EAF0FF"/>
          </a:solidFill>
          <a:ln w="13970">
            <a:solidFill>
              <a:srgbClr val="007A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40" b="1">
                <a:solidFill>
                  <a:srgbClr val="000E4F"/>
                </a:solidFill>
                <a:latin typeface="微软雅黑"/>
              </a:rPr>
              <a:t>裁剪功能权限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1078992"/>
            <a:ext cx="2011680" cy="30175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>
                <a:solidFill>
                  <a:srgbClr val="000E4F"/>
                </a:solidFill>
                <a:latin typeface="微软雅黑"/>
              </a:rPr>
              <a:t>分组模型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37960" y="1508760"/>
            <a:ext cx="1600200" cy="694944"/>
          </a:xfrm>
          <a:prstGeom prst="roundRect">
            <a:avLst/>
          </a:prstGeom>
          <a:solidFill>
            <a:srgbClr val="FFFBE8"/>
          </a:solidFill>
          <a:ln w="13970">
            <a:solidFill>
              <a:srgbClr val="F2B8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000E4F"/>
                </a:solidFill>
                <a:latin typeface="微软雅黑"/>
              </a:rPr>
              <a:t>teachers
全局教师组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75320" y="1508760"/>
            <a:ext cx="1828800" cy="694944"/>
          </a:xfrm>
          <a:prstGeom prst="roundRect">
            <a:avLst/>
          </a:prstGeom>
          <a:solidFill>
            <a:srgbClr val="F1F8F5"/>
          </a:solidFill>
          <a:ln w="13970">
            <a:solidFill>
              <a:srgbClr val="1F8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000E4F"/>
                </a:solidFill>
                <a:latin typeface="微软雅黑"/>
              </a:rPr>
              <a:t>formgrade-课程ID
教师管理课程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60920" y="2468880"/>
            <a:ext cx="1828800" cy="694944"/>
          </a:xfrm>
          <a:prstGeom prst="roundRect">
            <a:avLst/>
          </a:prstGeom>
          <a:solidFill>
            <a:srgbClr val="FFF5EE"/>
          </a:solidFill>
          <a:ln w="13970">
            <a:solidFill>
              <a:srgbClr val="E07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000E4F"/>
                </a:solidFill>
                <a:latin typeface="微软雅黑"/>
              </a:rPr>
              <a:t>nbgrader-课程ID
学生访问课程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315200" y="2212848"/>
            <a:ext cx="640079" cy="256032"/>
          </a:xfrm>
          <a:prstGeom prst="line">
            <a:avLst/>
          </a:prstGeom>
          <a:ln w="15240">
            <a:solidFill>
              <a:srgbClr val="F2B8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8503920" y="2212848"/>
            <a:ext cx="457200" cy="256032"/>
          </a:xfrm>
          <a:prstGeom prst="line">
            <a:avLst/>
          </a:prstGeom>
          <a:ln w="15240">
            <a:solidFill>
              <a:srgbClr val="1F8A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6693408" y="4864608"/>
            <a:ext cx="3063240" cy="594360"/>
          </a:xfrm>
          <a:prstGeom prst="roundRect">
            <a:avLst/>
          </a:prstGeom>
          <a:solidFill>
            <a:srgbClr val="F4F6FF"/>
          </a:solidFill>
          <a:ln w="13970">
            <a:solidFill>
              <a:srgbClr val="192D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000E4F"/>
                </a:solidFill>
                <a:latin typeface="微软雅黑"/>
              </a:rPr>
              <a:t>后端接口禁用
+
前端插件隐藏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4974336"/>
            <a:ext cx="5212080" cy="43891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50" b="0">
                <a:solidFill>
                  <a:srgbClr val="555555"/>
                </a:solidFill>
                <a:latin typeface="微软雅黑"/>
              </a:rPr>
              <a:t>形成“不是只隐藏按钮，而是后端权限与前端入口同步控制”的安全机制。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904" y="18288"/>
            <a:ext cx="10972800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1F1F1F"/>
                </a:solidFill>
                <a:latin typeface="微软雅黑"/>
              </a:rPr>
              <a:t>研究内容（三）：多课程作业全生命周期管理与自动评测机制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09904" y="704088"/>
            <a:ext cx="11021264" cy="0"/>
          </a:xfrm>
          <a:prstGeom prst="line">
            <a:avLst/>
          </a:prstGeom>
          <a:ln w="12700">
            <a:solidFill>
              <a:srgbClr val="DDE3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1649456" y="6556248"/>
            <a:ext cx="384048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555555"/>
                </a:solidFill>
                <a:latin typeface="Times New Roman"/>
              </a:rPr>
              <a:t>19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0352" y="841248"/>
            <a:ext cx="11137392" cy="5413248"/>
          </a:xfrm>
          <a:prstGeom prst="roundRect">
            <a:avLst/>
          </a:prstGeom>
          <a:solidFill>
            <a:srgbClr val="F7FAFF"/>
          </a:solidFill>
          <a:ln w="15875">
            <a:solidFill>
              <a:srgbClr val="192D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987552"/>
            <a:ext cx="67665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1">
                <a:solidFill>
                  <a:srgbClr val="000E4F"/>
                </a:solidFill>
                <a:latin typeface="微软雅黑"/>
              </a:rPr>
              <a:t>研究目标：把课程、作业、提交和评分组织成可追踪闭环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26080" y="1600200"/>
            <a:ext cx="1417320" cy="713232"/>
          </a:xfrm>
          <a:prstGeom prst="roundRect">
            <a:avLst/>
          </a:prstGeom>
          <a:solidFill>
            <a:srgbClr val="EAF0FF"/>
          </a:solidFill>
          <a:ln w="13970">
            <a:solidFill>
              <a:srgbClr val="192D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20" b="1">
                <a:solidFill>
                  <a:srgbClr val="000E4F"/>
                </a:solidFill>
                <a:latin typeface="微软雅黑"/>
              </a:rPr>
              <a:t>① 创建
source/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74920" y="1600200"/>
            <a:ext cx="1417320" cy="713232"/>
          </a:xfrm>
          <a:prstGeom prst="roundRect">
            <a:avLst/>
          </a:prstGeom>
          <a:solidFill>
            <a:srgbClr val="EAF0FF"/>
          </a:solidFill>
          <a:ln w="13970">
            <a:solidFill>
              <a:srgbClr val="1F8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20" b="1">
                <a:solidFill>
                  <a:srgbClr val="000E4F"/>
                </a:solidFill>
                <a:latin typeface="微软雅黑"/>
              </a:rPr>
              <a:t>② 生成
release/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23760" y="1600200"/>
            <a:ext cx="1417320" cy="713232"/>
          </a:xfrm>
          <a:prstGeom prst="roundRect">
            <a:avLst/>
          </a:prstGeom>
          <a:solidFill>
            <a:srgbClr val="EAF0FF"/>
          </a:solidFill>
          <a:ln w="13970">
            <a:solidFill>
              <a:srgbClr val="E07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20" b="1">
                <a:solidFill>
                  <a:srgbClr val="000E4F"/>
                </a:solidFill>
                <a:latin typeface="微软雅黑"/>
              </a:rPr>
              <a:t>③ 发布
Exchange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26679" y="3767328"/>
            <a:ext cx="1417320" cy="713232"/>
          </a:xfrm>
          <a:prstGeom prst="roundRect">
            <a:avLst/>
          </a:prstGeom>
          <a:solidFill>
            <a:srgbClr val="EAF0FF"/>
          </a:solidFill>
          <a:ln w="13970">
            <a:solidFill>
              <a:srgbClr val="6A3D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20" b="1">
                <a:solidFill>
                  <a:srgbClr val="000E4F"/>
                </a:solidFill>
                <a:latin typeface="微软雅黑"/>
              </a:rPr>
              <a:t>④ 领取/提交
学生端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74920" y="4709160"/>
            <a:ext cx="1417320" cy="713232"/>
          </a:xfrm>
          <a:prstGeom prst="roundRect">
            <a:avLst/>
          </a:prstGeom>
          <a:solidFill>
            <a:srgbClr val="EAF0FF"/>
          </a:solidFill>
          <a:ln w="13970">
            <a:solidFill>
              <a:srgbClr val="007A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20" b="1">
                <a:solidFill>
                  <a:srgbClr val="000E4F"/>
                </a:solidFill>
                <a:latin typeface="微软雅黑"/>
              </a:rPr>
              <a:t>⑤ 收集/评分
autograded/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23160" y="3767328"/>
            <a:ext cx="1417320" cy="713232"/>
          </a:xfrm>
          <a:prstGeom prst="roundRect">
            <a:avLst/>
          </a:prstGeom>
          <a:solidFill>
            <a:srgbClr val="EAF0FF"/>
          </a:solidFill>
          <a:ln w="13970">
            <a:solidFill>
              <a:srgbClr val="F2B8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20" b="1">
                <a:solidFill>
                  <a:srgbClr val="000E4F"/>
                </a:solidFill>
                <a:latin typeface="微软雅黑"/>
              </a:rPr>
              <a:t>⑥ 反馈
feedback/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343400" y="1956816"/>
            <a:ext cx="731520" cy="0"/>
          </a:xfrm>
          <a:prstGeom prst="line">
            <a:avLst/>
          </a:prstGeom>
          <a:ln w="16510">
            <a:solidFill>
              <a:srgbClr val="192D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492240" y="1956816"/>
            <a:ext cx="731520" cy="0"/>
          </a:xfrm>
          <a:prstGeom prst="line">
            <a:avLst/>
          </a:prstGeom>
          <a:ln w="16510">
            <a:solidFill>
              <a:srgbClr val="1F8A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909560" y="2313432"/>
            <a:ext cx="320040" cy="1453896"/>
          </a:xfrm>
          <a:prstGeom prst="line">
            <a:avLst/>
          </a:prstGeom>
          <a:ln w="16510">
            <a:solidFill>
              <a:srgbClr val="E072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6492240" y="4251960"/>
            <a:ext cx="1097280" cy="667512"/>
          </a:xfrm>
          <a:prstGeom prst="line">
            <a:avLst/>
          </a:prstGeom>
          <a:ln w="16510">
            <a:solidFill>
              <a:srgbClr val="6A3D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 flipV="1">
            <a:off x="3840480" y="4187952"/>
            <a:ext cx="1234440" cy="731520"/>
          </a:xfrm>
          <a:prstGeom prst="line">
            <a:avLst/>
          </a:prstGeom>
          <a:ln w="16510">
            <a:solidFill>
              <a:srgbClr val="007A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2423160" y="2313432"/>
            <a:ext cx="640080" cy="1453896"/>
          </a:xfrm>
          <a:prstGeom prst="line">
            <a:avLst/>
          </a:prstGeom>
          <a:ln w="16510">
            <a:solidFill>
              <a:srgbClr val="F2B8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3246120" y="3136392"/>
            <a:ext cx="4709160" cy="502920"/>
          </a:xfrm>
          <a:prstGeom prst="roundRect">
            <a:avLst/>
          </a:prstGeom>
          <a:solidFill>
            <a:srgbClr val="FFFBE8"/>
          </a:solidFill>
          <a:ln w="13970">
            <a:solidFill>
              <a:srgbClr val="F2B8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20" b="1">
                <a:solidFill>
                  <a:srgbClr val="000E4F"/>
                </a:solidFill>
                <a:latin typeface="微软雅黑"/>
              </a:rPr>
              <a:t>多课程隔离：course_id + exchange 路径前缀 + gradebook 数据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" y="1463040"/>
            <a:ext cx="1965960" cy="3886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320" b="1">
                <a:solidFill>
                  <a:srgbClr val="C00000"/>
                </a:solidFill>
                <a:latin typeface="微软雅黑"/>
              </a:rPr>
              <a:t>核心实现：</a:t>
            </a:r>
          </a:p>
          <a:p>
            <a:pPr algn="l">
              <a:spcAft>
                <a:spcPts val="600"/>
              </a:spcAft>
            </a:pPr>
            <a:r>
              <a:rPr sz="1320" b="1">
                <a:solidFill>
                  <a:srgbClr val="000E4F"/>
                </a:solidFill>
                <a:latin typeface="微软雅黑"/>
              </a:rPr>
              <a:t>课程可见性：</a:t>
            </a:r>
            <a:r>
              <a:rPr sz="1320" b="0">
                <a:solidFill>
                  <a:srgbClr val="1F1F1F"/>
                </a:solidFill>
                <a:latin typeface="微软雅黑"/>
              </a:rPr>
              <a:t>由用户分组推导可访问课程。</a:t>
            </a:r>
          </a:p>
          <a:p>
            <a:pPr algn="l">
              <a:spcAft>
                <a:spcPts val="600"/>
              </a:spcAft>
            </a:pPr>
            <a:r>
              <a:rPr sz="1320" b="1">
                <a:solidFill>
                  <a:srgbClr val="000E4F"/>
                </a:solidFill>
                <a:latin typeface="微软雅黑"/>
              </a:rPr>
              <a:t>作业流转：</a:t>
            </a:r>
            <a:r>
              <a:rPr sz="1320" b="0">
                <a:solidFill>
                  <a:srgbClr val="1F1F1F"/>
                </a:solidFill>
                <a:latin typeface="微软雅黑"/>
              </a:rPr>
              <a:t>共享交换目录承载发布、领取、提交与反馈。</a:t>
            </a:r>
          </a:p>
          <a:p>
            <a:pPr algn="l">
              <a:spcAft>
                <a:spcPts val="600"/>
              </a:spcAft>
            </a:pPr>
            <a:r>
              <a:rPr sz="1320" b="1">
                <a:solidFill>
                  <a:srgbClr val="000E4F"/>
                </a:solidFill>
                <a:latin typeface="微软雅黑"/>
              </a:rPr>
              <a:t>评分管理：</a:t>
            </a:r>
            <a:r>
              <a:rPr sz="1320" b="0">
                <a:solidFill>
                  <a:srgbClr val="1F1F1F"/>
                </a:solidFill>
                <a:latin typeface="微软雅黑"/>
              </a:rPr>
              <a:t>教师端维护学生与成绩，自动同步课程分组。</a:t>
            </a:r>
          </a:p>
          <a:p>
            <a:pPr algn="l">
              <a:spcAft>
                <a:spcPts val="600"/>
              </a:spcAft>
            </a:pPr>
            <a:r>
              <a:rPr sz="1320" b="1">
                <a:solidFill>
                  <a:srgbClr val="000E4F"/>
                </a:solidFill>
                <a:latin typeface="微软雅黑"/>
              </a:rPr>
              <a:t>学生体验：</a:t>
            </a:r>
            <a:r>
              <a:rPr sz="1320" b="0">
                <a:solidFill>
                  <a:srgbClr val="1F1F1F"/>
                </a:solidFill>
                <a:latin typeface="微软雅黑"/>
              </a:rPr>
              <a:t>只看到可领取、可提交、可查看反馈的任务。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0" y="5650992"/>
            <a:ext cx="694944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50" b="0">
                <a:solidFill>
                  <a:srgbClr val="555555"/>
                </a:solidFill>
                <a:latin typeface="微软雅黑"/>
              </a:rPr>
              <a:t>图示：作业生命周期从教师创建到学生反馈，所有阶段均以课程 ID 作为隔离边界。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904" y="18288"/>
            <a:ext cx="10972800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1F1F1F"/>
                </a:solidFill>
                <a:latin typeface="微软雅黑"/>
              </a:rPr>
              <a:t>研究内容（四）：基于插件体系的交互式实验工作台设计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09904" y="704088"/>
            <a:ext cx="11021264" cy="0"/>
          </a:xfrm>
          <a:prstGeom prst="line">
            <a:avLst/>
          </a:prstGeom>
          <a:ln w="12700">
            <a:solidFill>
              <a:srgbClr val="DDE3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1649456" y="6556248"/>
            <a:ext cx="384048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555555"/>
                </a:solidFill>
                <a:latin typeface="Times New Roman"/>
              </a:rPr>
              <a:t>20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0352" y="841248"/>
            <a:ext cx="11137392" cy="5413248"/>
          </a:xfrm>
          <a:prstGeom prst="roundRect">
            <a:avLst/>
          </a:prstGeom>
          <a:solidFill>
            <a:srgbClr val="F7FAFF"/>
          </a:solidFill>
          <a:ln w="15875">
            <a:solidFill>
              <a:srgbClr val="192D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987552"/>
            <a:ext cx="7132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1">
                <a:solidFill>
                  <a:srgbClr val="000E4F"/>
                </a:solidFill>
                <a:latin typeface="微软雅黑"/>
              </a:rPr>
              <a:t>研究目标：把专业实验能力嵌入在线 IDE，而不是做成孤立网页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481328"/>
            <a:ext cx="3246120" cy="395020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92D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645920"/>
            <a:ext cx="25603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1">
                <a:solidFill>
                  <a:srgbClr val="000E4F"/>
                </a:solidFill>
                <a:latin typeface="微软雅黑"/>
              </a:rPr>
              <a:t>热设计仿真工作台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78992" y="2039112"/>
            <a:ext cx="658368" cy="310896"/>
          </a:xfrm>
          <a:prstGeom prst="roundRect">
            <a:avLst/>
          </a:prstGeom>
          <a:solidFill>
            <a:srgbClr val="192D96"/>
          </a:solidFill>
          <a:ln w="13970">
            <a:solidFill>
              <a:srgbClr val="192D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869" b="1">
                <a:solidFill>
                  <a:srgbClr val="FFFFFF"/>
                </a:solidFill>
                <a:latin typeface="微软雅黑"/>
              </a:rPr>
              <a:t>稳态导热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792224" y="2039112"/>
            <a:ext cx="658368" cy="310896"/>
          </a:xfrm>
          <a:prstGeom prst="roundRect">
            <a:avLst/>
          </a:prstGeom>
          <a:solidFill>
            <a:srgbClr val="EAF0FF"/>
          </a:solidFill>
          <a:ln w="13970">
            <a:solidFill>
              <a:srgbClr val="1F8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869" b="1">
                <a:solidFill>
                  <a:srgbClr val="000E4F"/>
                </a:solidFill>
                <a:latin typeface="微软雅黑"/>
              </a:rPr>
              <a:t>瞬态导热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05456" y="2039112"/>
            <a:ext cx="658368" cy="310896"/>
          </a:xfrm>
          <a:prstGeom prst="roundRect">
            <a:avLst/>
          </a:prstGeom>
          <a:solidFill>
            <a:srgbClr val="EAF0FF"/>
          </a:solidFill>
          <a:ln w="13970">
            <a:solidFill>
              <a:srgbClr val="E07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869" b="1">
                <a:solidFill>
                  <a:srgbClr val="000E4F"/>
                </a:solidFill>
                <a:latin typeface="微软雅黑"/>
              </a:rPr>
              <a:t>对流换热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18687" y="2039112"/>
            <a:ext cx="658368" cy="310896"/>
          </a:xfrm>
          <a:prstGeom prst="roundRect">
            <a:avLst/>
          </a:prstGeom>
          <a:solidFill>
            <a:srgbClr val="EAF0FF"/>
          </a:solidFill>
          <a:ln w="13970">
            <a:solidFill>
              <a:srgbClr val="6A3D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869" b="1">
                <a:solidFill>
                  <a:srgbClr val="000E4F"/>
                </a:solidFill>
                <a:latin typeface="微软雅黑"/>
              </a:rPr>
              <a:t>热辐射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15568" y="2578608"/>
            <a:ext cx="2697480" cy="329184"/>
          </a:xfrm>
          <a:prstGeom prst="roundRect">
            <a:avLst/>
          </a:prstGeom>
          <a:solidFill>
            <a:srgbClr val="F7FAFF"/>
          </a:solidFill>
          <a:ln w="13970">
            <a:solidFill>
              <a:srgbClr val="CCD6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50" b="0">
                <a:solidFill>
                  <a:srgbClr val="1F1F1F"/>
                </a:solidFill>
                <a:latin typeface="微软雅黑"/>
              </a:rPr>
              <a:t>场景：多层复合平板导热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15568" y="3072384"/>
            <a:ext cx="2697480" cy="329184"/>
          </a:xfrm>
          <a:prstGeom prst="roundRect">
            <a:avLst/>
          </a:prstGeom>
          <a:solidFill>
            <a:srgbClr val="F7FAFF"/>
          </a:solidFill>
          <a:ln w="13970">
            <a:solidFill>
              <a:srgbClr val="CCD6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50" b="0">
                <a:solidFill>
                  <a:srgbClr val="1F1F1F"/>
                </a:solidFill>
                <a:latin typeface="微软雅黑"/>
              </a:rPr>
              <a:t>厚度 L1 / L2 / L3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15568" y="3566160"/>
            <a:ext cx="2697480" cy="329184"/>
          </a:xfrm>
          <a:prstGeom prst="roundRect">
            <a:avLst/>
          </a:prstGeom>
          <a:solidFill>
            <a:srgbClr val="F7FAFF"/>
          </a:solidFill>
          <a:ln w="13970">
            <a:solidFill>
              <a:srgbClr val="CCD6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50" b="0">
                <a:solidFill>
                  <a:srgbClr val="1F1F1F"/>
                </a:solidFill>
                <a:latin typeface="微软雅黑"/>
              </a:rPr>
              <a:t>导热系数 k1 / k2 / k3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15568" y="4059935"/>
            <a:ext cx="2697480" cy="329184"/>
          </a:xfrm>
          <a:prstGeom prst="roundRect">
            <a:avLst/>
          </a:prstGeom>
          <a:solidFill>
            <a:srgbClr val="F7FAFF"/>
          </a:solidFill>
          <a:ln w="13970">
            <a:solidFill>
              <a:srgbClr val="CCD6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50" b="0">
                <a:solidFill>
                  <a:srgbClr val="1F1F1F"/>
                </a:solidFill>
                <a:latin typeface="微软雅黑"/>
              </a:rPr>
              <a:t>边界温度 T_left / T_right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572768" y="4617720"/>
            <a:ext cx="1691640" cy="420624"/>
          </a:xfrm>
          <a:prstGeom prst="roundRect">
            <a:avLst/>
          </a:prstGeom>
          <a:solidFill>
            <a:srgbClr val="192D96"/>
          </a:solidFill>
          <a:ln w="13970">
            <a:solidFill>
              <a:srgbClr val="192D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生成 Notebook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17720" y="1691640"/>
            <a:ext cx="1353312" cy="621792"/>
          </a:xfrm>
          <a:prstGeom prst="roundRect">
            <a:avLst/>
          </a:prstGeom>
          <a:solidFill>
            <a:srgbClr val="EAF0FF"/>
          </a:solidFill>
          <a:ln w="13970">
            <a:solidFill>
              <a:srgbClr val="192D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30" b="1">
                <a:solidFill>
                  <a:srgbClr val="000E4F"/>
                </a:solidFill>
                <a:latin typeface="微软雅黑"/>
              </a:rPr>
              <a:t>菜单命令
注册入口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72784" y="1691640"/>
            <a:ext cx="1353312" cy="621792"/>
          </a:xfrm>
          <a:prstGeom prst="roundRect">
            <a:avLst/>
          </a:prstGeom>
          <a:solidFill>
            <a:srgbClr val="EAF0FF"/>
          </a:solidFill>
          <a:ln w="13970">
            <a:solidFill>
              <a:srgbClr val="1F8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30" b="1">
                <a:solidFill>
                  <a:srgbClr val="000E4F"/>
                </a:solidFill>
                <a:latin typeface="微软雅黑"/>
              </a:rPr>
              <a:t>参数面板
React 组件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27848" y="1691640"/>
            <a:ext cx="1353312" cy="621792"/>
          </a:xfrm>
          <a:prstGeom prst="roundRect">
            <a:avLst/>
          </a:prstGeom>
          <a:solidFill>
            <a:srgbClr val="EAF0FF"/>
          </a:solidFill>
          <a:ln w="13970">
            <a:solidFill>
              <a:srgbClr val="E07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30" b="1">
                <a:solidFill>
                  <a:srgbClr val="000E4F"/>
                </a:solidFill>
                <a:latin typeface="微软雅黑"/>
              </a:rPr>
              <a:t>Notebook
模板生成器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46520" y="3154680"/>
            <a:ext cx="1353312" cy="621792"/>
          </a:xfrm>
          <a:prstGeom prst="roundRect">
            <a:avLst/>
          </a:prstGeom>
          <a:solidFill>
            <a:srgbClr val="EAF0FF"/>
          </a:solidFill>
          <a:ln w="13970">
            <a:solidFill>
              <a:srgbClr val="6A3D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30" b="1">
                <a:solidFill>
                  <a:srgbClr val="000E4F"/>
                </a:solidFill>
                <a:latin typeface="微软雅黑"/>
              </a:rPr>
              <a:t>Contents API
保存归档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11312" y="3154680"/>
            <a:ext cx="1353312" cy="621792"/>
          </a:xfrm>
          <a:prstGeom prst="roundRect">
            <a:avLst/>
          </a:prstGeom>
          <a:solidFill>
            <a:srgbClr val="EAF0FF"/>
          </a:solidFill>
          <a:ln w="13970">
            <a:solidFill>
              <a:srgbClr val="007A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30" b="1">
                <a:solidFill>
                  <a:srgbClr val="000E4F"/>
                </a:solidFill>
                <a:latin typeface="微软雅黑"/>
              </a:rPr>
              <a:t>docmanager
自动打开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971032" y="2002536"/>
            <a:ext cx="301752" cy="0"/>
          </a:xfrm>
          <a:prstGeom prst="line">
            <a:avLst/>
          </a:prstGeom>
          <a:ln w="16510">
            <a:solidFill>
              <a:srgbClr val="192D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626096" y="2002536"/>
            <a:ext cx="301752" cy="0"/>
          </a:xfrm>
          <a:prstGeom prst="line">
            <a:avLst/>
          </a:prstGeom>
          <a:ln w="16510">
            <a:solidFill>
              <a:srgbClr val="1F8A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7123176" y="2313432"/>
            <a:ext cx="1453896" cy="841248"/>
          </a:xfrm>
          <a:prstGeom prst="line">
            <a:avLst/>
          </a:prstGeom>
          <a:ln w="16510">
            <a:solidFill>
              <a:srgbClr val="E072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799831" y="3465576"/>
            <a:ext cx="411481" cy="0"/>
          </a:xfrm>
          <a:prstGeom prst="line">
            <a:avLst/>
          </a:prstGeom>
          <a:ln w="16510">
            <a:solidFill>
              <a:srgbClr val="6A3D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4709160" y="4736592"/>
            <a:ext cx="5074920" cy="475488"/>
          </a:xfrm>
          <a:prstGeom prst="roundRect">
            <a:avLst/>
          </a:prstGeom>
          <a:solidFill>
            <a:srgbClr val="FFFBE8"/>
          </a:solidFill>
          <a:ln w="13970">
            <a:solidFill>
              <a:srgbClr val="F2B8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20" b="1">
                <a:solidFill>
                  <a:srgbClr val="000E4F"/>
                </a:solidFill>
                <a:latin typeface="微软雅黑"/>
              </a:rPr>
              <a:t>输出结果：可执行、可修改、可留痕的实验 Notebook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17720" y="3886200"/>
            <a:ext cx="5349240" cy="7132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280" b="1">
                <a:solidFill>
                  <a:srgbClr val="C00000"/>
                </a:solidFill>
                <a:latin typeface="微软雅黑"/>
              </a:rPr>
              <a:t>设计价值：</a:t>
            </a:r>
          </a:p>
          <a:p>
            <a:pPr algn="l">
              <a:spcAft>
                <a:spcPts val="200"/>
              </a:spcAft>
            </a:pPr>
            <a:r>
              <a:rPr sz="1280" b="1">
                <a:solidFill>
                  <a:srgbClr val="000E4F"/>
                </a:solidFill>
                <a:latin typeface="微软雅黑"/>
              </a:rPr>
              <a:t>可教学：</a:t>
            </a:r>
            <a:r>
              <a:rPr sz="1280" b="0">
                <a:solidFill>
                  <a:srgbClr val="1F1F1F"/>
                </a:solidFill>
                <a:latin typeface="微软雅黑"/>
              </a:rPr>
              <a:t>文档包含模型说明、公式推导、参数代码和可视化。</a:t>
            </a:r>
          </a:p>
          <a:p>
            <a:pPr algn="l">
              <a:spcAft>
                <a:spcPts val="200"/>
              </a:spcAft>
            </a:pPr>
            <a:r>
              <a:rPr sz="1280" b="1">
                <a:solidFill>
                  <a:srgbClr val="000E4F"/>
                </a:solidFill>
                <a:latin typeface="微软雅黑"/>
              </a:rPr>
              <a:t>可复现：</a:t>
            </a:r>
            <a:r>
              <a:rPr sz="1280" b="0">
                <a:solidFill>
                  <a:srgbClr val="1F1F1F"/>
                </a:solidFill>
                <a:latin typeface="微软雅黑"/>
              </a:rPr>
              <a:t>每次实验自动归档为独立 Notebook 文件。</a:t>
            </a:r>
          </a:p>
          <a:p>
            <a:pPr algn="l">
              <a:spcAft>
                <a:spcPts val="200"/>
              </a:spcAft>
            </a:pPr>
            <a:r>
              <a:rPr sz="1280" b="1">
                <a:solidFill>
                  <a:srgbClr val="000E4F"/>
                </a:solidFill>
                <a:latin typeface="微软雅黑"/>
              </a:rPr>
              <a:t>可扩展：</a:t>
            </a:r>
            <a:r>
              <a:rPr sz="1280" b="0">
                <a:solidFill>
                  <a:srgbClr val="1F1F1F"/>
                </a:solidFill>
                <a:latin typeface="微软雅黑"/>
              </a:rPr>
              <a:t>新增场景时只需补充场景配置与模板工厂。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904" y="18288"/>
            <a:ext cx="10972800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1F1F1F"/>
                </a:solidFill>
                <a:latin typeface="微软雅黑"/>
              </a:rPr>
              <a:t>研究内容（五）：传热学数值仿真实验模块设计与实现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09904" y="704088"/>
            <a:ext cx="11021264" cy="0"/>
          </a:xfrm>
          <a:prstGeom prst="line">
            <a:avLst/>
          </a:prstGeom>
          <a:ln w="12700">
            <a:solidFill>
              <a:srgbClr val="DDE3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1649456" y="6556248"/>
            <a:ext cx="384048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555555"/>
                </a:solidFill>
                <a:latin typeface="Times New Roman"/>
              </a:rPr>
              <a:t>21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0352" y="841248"/>
            <a:ext cx="11137392" cy="5413248"/>
          </a:xfrm>
          <a:prstGeom prst="roundRect">
            <a:avLst/>
          </a:prstGeom>
          <a:solidFill>
            <a:srgbClr val="F7FAFF"/>
          </a:solidFill>
          <a:ln w="15875">
            <a:solidFill>
              <a:srgbClr val="192D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987552"/>
            <a:ext cx="80467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950" b="1">
                <a:solidFill>
                  <a:srgbClr val="000E4F"/>
                </a:solidFill>
                <a:latin typeface="微软雅黑"/>
              </a:rPr>
              <a:t>研究目标：将传热学典型问题封装为参数化、可运行、可讲解的实验场景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554480"/>
            <a:ext cx="2148840" cy="384048"/>
          </a:xfrm>
          <a:prstGeom prst="roundRect">
            <a:avLst/>
          </a:prstGeom>
          <a:solidFill>
            <a:srgbClr val="192D96"/>
          </a:solidFill>
          <a:ln w="13970">
            <a:solidFill>
              <a:srgbClr val="192D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</a:rPr>
              <a:t>稳态导热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011680"/>
            <a:ext cx="2148840" cy="960120"/>
          </a:xfrm>
          <a:prstGeom prst="roundRect">
            <a:avLst/>
          </a:prstGeom>
          <a:solidFill>
            <a:srgbClr val="F8FBFF"/>
          </a:solidFill>
          <a:ln w="13970">
            <a:solidFill>
              <a:srgbClr val="192D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40" b="0">
                <a:solidFill>
                  <a:srgbClr val="1F1F1F"/>
                </a:solidFill>
                <a:latin typeface="微软雅黑"/>
              </a:rPr>
              <a:t>平板、多层壁、圆筒壁、直肋、内热源、二维板
方法：FDM / FVM / 解析对比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75887" y="1554480"/>
            <a:ext cx="2148840" cy="384048"/>
          </a:xfrm>
          <a:prstGeom prst="roundRect">
            <a:avLst/>
          </a:prstGeom>
          <a:solidFill>
            <a:srgbClr val="1F8A70"/>
          </a:solidFill>
          <a:ln w="13970">
            <a:solidFill>
              <a:srgbClr val="1F8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</a:rPr>
              <a:t>瞬态导热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75887" y="2011680"/>
            <a:ext cx="2148840" cy="960120"/>
          </a:xfrm>
          <a:prstGeom prst="roundRect">
            <a:avLst/>
          </a:prstGeom>
          <a:solidFill>
            <a:srgbClr val="F8FBFF"/>
          </a:solidFill>
          <a:ln w="13970">
            <a:solidFill>
              <a:srgbClr val="1F8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40" b="0">
                <a:solidFill>
                  <a:srgbClr val="1F1F1F"/>
                </a:solidFill>
                <a:latin typeface="微软雅黑"/>
              </a:rPr>
              <a:t>恒温边界、恒定热流边界
方法：FTCS 显式格式 / 隐式 FVM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83096" y="1554480"/>
            <a:ext cx="2148840" cy="384048"/>
          </a:xfrm>
          <a:prstGeom prst="roundRect">
            <a:avLst/>
          </a:prstGeom>
          <a:solidFill>
            <a:srgbClr val="E0722A"/>
          </a:solidFill>
          <a:ln w="13970">
            <a:solidFill>
              <a:srgbClr val="E07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</a:rPr>
              <a:t>对流换热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83096" y="2011680"/>
            <a:ext cx="2148840" cy="960120"/>
          </a:xfrm>
          <a:prstGeom prst="roundRect">
            <a:avLst/>
          </a:prstGeom>
          <a:solidFill>
            <a:srgbClr val="F8FBFF"/>
          </a:solidFill>
          <a:ln w="13970">
            <a:solidFill>
              <a:srgbClr val="E07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40" b="0">
                <a:solidFill>
                  <a:srgbClr val="1F1F1F"/>
                </a:solidFill>
                <a:latin typeface="微软雅黑"/>
              </a:rPr>
              <a:t>平板层流/湍流、竖板自然对流、管内强迫对流
方法：Re / Nu / Gr / Ra 关联式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90304" y="1554480"/>
            <a:ext cx="2148840" cy="384048"/>
          </a:xfrm>
          <a:prstGeom prst="roundRect">
            <a:avLst/>
          </a:prstGeom>
          <a:solidFill>
            <a:srgbClr val="6A3D9A"/>
          </a:solidFill>
          <a:ln w="13970">
            <a:solidFill>
              <a:srgbClr val="6A3D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</a:rPr>
              <a:t>热辐射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90304" y="2011680"/>
            <a:ext cx="2148840" cy="960120"/>
          </a:xfrm>
          <a:prstGeom prst="roundRect">
            <a:avLst/>
          </a:prstGeom>
          <a:solidFill>
            <a:srgbClr val="F8FBFF"/>
          </a:solidFill>
          <a:ln w="13970">
            <a:solidFill>
              <a:srgbClr val="6A3D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40" b="0">
                <a:solidFill>
                  <a:srgbClr val="1F1F1F"/>
                </a:solidFill>
                <a:latin typeface="微软雅黑"/>
              </a:rPr>
              <a:t>平行平板、三表面封闭空腔
方法：灰体辐射、遮热板、辐射网络法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337560"/>
            <a:ext cx="22860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>
                <a:solidFill>
                  <a:srgbClr val="000E4F"/>
                </a:solidFill>
                <a:latin typeface="微软雅黑"/>
              </a:rPr>
              <a:t>统一求解器架构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858768"/>
            <a:ext cx="1417320" cy="621792"/>
          </a:xfrm>
          <a:prstGeom prst="roundRect">
            <a:avLst/>
          </a:prstGeom>
          <a:solidFill>
            <a:srgbClr val="EAF0FF"/>
          </a:solidFill>
          <a:ln w="13970">
            <a:solidFill>
              <a:srgbClr val="192D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50" b="1">
                <a:solidFill>
                  <a:srgbClr val="000E4F"/>
                </a:solidFill>
                <a:latin typeface="微软雅黑"/>
              </a:rPr>
              <a:t>scenario_id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331720" y="4169663"/>
            <a:ext cx="411480" cy="0"/>
          </a:xfrm>
          <a:prstGeom prst="line">
            <a:avLst/>
          </a:prstGeom>
          <a:ln w="15240">
            <a:solidFill>
              <a:srgbClr val="192D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2743200" y="3858768"/>
            <a:ext cx="1417320" cy="621792"/>
          </a:xfrm>
          <a:prstGeom prst="roundRect">
            <a:avLst/>
          </a:prstGeom>
          <a:solidFill>
            <a:srgbClr val="EAF0FF"/>
          </a:solidFill>
          <a:ln w="13970">
            <a:solidFill>
              <a:srgbClr val="1F8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50" b="1">
                <a:solidFill>
                  <a:srgbClr val="000E4F"/>
                </a:solidFill>
                <a:latin typeface="微软雅黑"/>
              </a:rPr>
              <a:t>ROUTER
场景分发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160520" y="4169663"/>
            <a:ext cx="548640" cy="0"/>
          </a:xfrm>
          <a:prstGeom prst="line">
            <a:avLst/>
          </a:prstGeom>
          <a:ln w="15240">
            <a:solidFill>
              <a:srgbClr val="192D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709160" y="3858768"/>
            <a:ext cx="1783080" cy="621792"/>
          </a:xfrm>
          <a:prstGeom prst="roundRect">
            <a:avLst/>
          </a:prstGeom>
          <a:solidFill>
            <a:srgbClr val="EAF0FF"/>
          </a:solidFill>
          <a:ln w="13970">
            <a:solidFill>
              <a:srgbClr val="E07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50" b="1">
                <a:solidFill>
                  <a:srgbClr val="000E4F"/>
                </a:solidFill>
                <a:latin typeface="微软雅黑"/>
              </a:rPr>
              <a:t>solve_xxx(params)
模型求解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492240" y="4169663"/>
            <a:ext cx="594360" cy="0"/>
          </a:xfrm>
          <a:prstGeom prst="line">
            <a:avLst/>
          </a:prstGeom>
          <a:ln w="15240">
            <a:solidFill>
              <a:srgbClr val="192D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086600" y="3858768"/>
            <a:ext cx="1417320" cy="621792"/>
          </a:xfrm>
          <a:prstGeom prst="roundRect">
            <a:avLst/>
          </a:prstGeom>
          <a:solidFill>
            <a:srgbClr val="EAF0FF"/>
          </a:solidFill>
          <a:ln w="13970">
            <a:solidFill>
              <a:srgbClr val="6A3D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50" b="1">
                <a:solidFill>
                  <a:srgbClr val="000E4F"/>
                </a:solidFill>
                <a:latin typeface="微软雅黑"/>
              </a:rPr>
              <a:t>indicators
chart_data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503920" y="4169663"/>
            <a:ext cx="685800" cy="0"/>
          </a:xfrm>
          <a:prstGeom prst="line">
            <a:avLst/>
          </a:prstGeom>
          <a:ln w="15240">
            <a:solidFill>
              <a:srgbClr val="192D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189720" y="3858768"/>
            <a:ext cx="1417320" cy="621792"/>
          </a:xfrm>
          <a:prstGeom prst="roundRect">
            <a:avLst/>
          </a:prstGeom>
          <a:solidFill>
            <a:srgbClr val="EAF0FF"/>
          </a:solidFill>
          <a:ln w="13970">
            <a:solidFill>
              <a:srgbClr val="007A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50" b="1">
                <a:solidFill>
                  <a:srgbClr val="000E4F"/>
                </a:solidFill>
                <a:latin typeface="微软雅黑"/>
              </a:rPr>
              <a:t>Notebook
图表与报告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97280" y="5175504"/>
            <a:ext cx="9921240" cy="502920"/>
          </a:xfrm>
          <a:prstGeom prst="roundRect">
            <a:avLst/>
          </a:prstGeom>
          <a:solidFill>
            <a:srgbClr val="FFFBE8"/>
          </a:solidFill>
          <a:ln w="13970">
            <a:solidFill>
              <a:srgbClr val="F2B8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>
                <a:solidFill>
                  <a:srgbClr val="000E4F"/>
                </a:solidFill>
                <a:latin typeface="微软雅黑"/>
              </a:rPr>
              <a:t>覆盖 4 类 14 个典型传热实验场景，既可直接演示结果，也可展开代码讲解计算机理。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760720"/>
            <a:ext cx="100584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30" b="0">
                <a:solidFill>
                  <a:srgbClr val="555555"/>
                </a:solidFill>
                <a:latin typeface="微软雅黑"/>
              </a:rPr>
              <a:t>图示：每个场景共享同一输入/输出规范，便于新增模型、统一可视化和后续接入自动评测。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904" y="18288"/>
            <a:ext cx="10972800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1F1F1F"/>
                </a:solidFill>
                <a:latin typeface="微软雅黑"/>
              </a:rPr>
              <a:t>研究内容总结：系统集成闭环与阶段性创新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09904" y="704088"/>
            <a:ext cx="11021264" cy="0"/>
          </a:xfrm>
          <a:prstGeom prst="line">
            <a:avLst/>
          </a:prstGeom>
          <a:ln w="12700">
            <a:solidFill>
              <a:srgbClr val="DDE3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1649456" y="6556248"/>
            <a:ext cx="384048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555555"/>
                </a:solidFill>
                <a:latin typeface="Times New Roman"/>
              </a:rPr>
              <a:t>22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0352" y="841248"/>
            <a:ext cx="11137392" cy="5413248"/>
          </a:xfrm>
          <a:prstGeom prst="roundRect">
            <a:avLst/>
          </a:prstGeom>
          <a:solidFill>
            <a:srgbClr val="F7FAFF"/>
          </a:solidFill>
          <a:ln w="15875">
            <a:solidFill>
              <a:srgbClr val="192D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987552"/>
            <a:ext cx="2286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1">
                <a:solidFill>
                  <a:srgbClr val="000E4F"/>
                </a:solidFill>
                <a:latin typeface="微软雅黑"/>
              </a:rPr>
              <a:t>平台运行闭环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" y="1874519"/>
            <a:ext cx="1143000" cy="493776"/>
          </a:xfrm>
          <a:prstGeom prst="roundRect">
            <a:avLst/>
          </a:prstGeom>
          <a:solidFill>
            <a:srgbClr val="EAF0FF"/>
          </a:solidFill>
          <a:ln w="13970">
            <a:solidFill>
              <a:srgbClr val="192D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20" b="1">
                <a:solidFill>
                  <a:srgbClr val="000E4F"/>
                </a:solidFill>
                <a:latin typeface="微软雅黑"/>
              </a:rPr>
              <a:t>登录/注册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148840" y="2121408"/>
            <a:ext cx="594360" cy="0"/>
          </a:xfrm>
          <a:prstGeom prst="line">
            <a:avLst/>
          </a:prstGeom>
          <a:ln w="13970">
            <a:solidFill>
              <a:srgbClr val="192D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743200" y="1874519"/>
            <a:ext cx="1143000" cy="493776"/>
          </a:xfrm>
          <a:prstGeom prst="roundRect">
            <a:avLst/>
          </a:prstGeom>
          <a:solidFill>
            <a:srgbClr val="EAF0FF"/>
          </a:solidFill>
          <a:ln w="13970">
            <a:solidFill>
              <a:srgbClr val="1F8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20" b="1">
                <a:solidFill>
                  <a:srgbClr val="000E4F"/>
                </a:solidFill>
                <a:latin typeface="微软雅黑"/>
              </a:rPr>
              <a:t>课程分组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886200" y="2121408"/>
            <a:ext cx="594360" cy="0"/>
          </a:xfrm>
          <a:prstGeom prst="line">
            <a:avLst/>
          </a:prstGeom>
          <a:ln w="13970">
            <a:solidFill>
              <a:srgbClr val="192D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480560" y="1874519"/>
            <a:ext cx="1143000" cy="493776"/>
          </a:xfrm>
          <a:prstGeom prst="roundRect">
            <a:avLst/>
          </a:prstGeom>
          <a:solidFill>
            <a:srgbClr val="EAF0FF"/>
          </a:solidFill>
          <a:ln w="13970">
            <a:solidFill>
              <a:srgbClr val="E07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20" b="1">
                <a:solidFill>
                  <a:srgbClr val="000E4F"/>
                </a:solidFill>
                <a:latin typeface="微软雅黑"/>
              </a:rPr>
              <a:t>容器启动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623560" y="2121408"/>
            <a:ext cx="594360" cy="0"/>
          </a:xfrm>
          <a:prstGeom prst="line">
            <a:avLst/>
          </a:prstGeom>
          <a:ln w="13970">
            <a:solidFill>
              <a:srgbClr val="192D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217920" y="1874519"/>
            <a:ext cx="1143000" cy="493776"/>
          </a:xfrm>
          <a:prstGeom prst="roundRect">
            <a:avLst/>
          </a:prstGeom>
          <a:solidFill>
            <a:srgbClr val="EAF0FF"/>
          </a:solidFill>
          <a:ln w="13970">
            <a:solidFill>
              <a:srgbClr val="6A3D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20" b="1">
                <a:solidFill>
                  <a:srgbClr val="000E4F"/>
                </a:solidFill>
                <a:latin typeface="微软雅黑"/>
              </a:rPr>
              <a:t>在线 IDE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360920" y="2121408"/>
            <a:ext cx="594359" cy="0"/>
          </a:xfrm>
          <a:prstGeom prst="line">
            <a:avLst/>
          </a:prstGeom>
          <a:ln w="13970">
            <a:solidFill>
              <a:srgbClr val="192D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955279" y="1874519"/>
            <a:ext cx="1143000" cy="493776"/>
          </a:xfrm>
          <a:prstGeom prst="roundRect">
            <a:avLst/>
          </a:prstGeom>
          <a:solidFill>
            <a:srgbClr val="EAF0FF"/>
          </a:solidFill>
          <a:ln w="13970">
            <a:solidFill>
              <a:srgbClr val="007A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20" b="1">
                <a:solidFill>
                  <a:srgbClr val="000E4F"/>
                </a:solidFill>
                <a:latin typeface="微软雅黑"/>
              </a:rPr>
              <a:t>作业评测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098280" y="2121408"/>
            <a:ext cx="594360" cy="0"/>
          </a:xfrm>
          <a:prstGeom prst="line">
            <a:avLst/>
          </a:prstGeom>
          <a:ln w="13970">
            <a:solidFill>
              <a:srgbClr val="192D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692640" y="1874519"/>
            <a:ext cx="1143000" cy="493776"/>
          </a:xfrm>
          <a:prstGeom prst="roundRect">
            <a:avLst/>
          </a:prstGeom>
          <a:solidFill>
            <a:srgbClr val="EAF0FF"/>
          </a:solidFill>
          <a:ln w="13970">
            <a:solidFill>
              <a:srgbClr val="F2B8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20" b="1">
                <a:solidFill>
                  <a:srgbClr val="000E4F"/>
                </a:solidFill>
                <a:latin typeface="微软雅黑"/>
              </a:rPr>
              <a:t>仿真实验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1572768" y="2368296"/>
            <a:ext cx="8686800" cy="941832"/>
          </a:xfrm>
          <a:prstGeom prst="line">
            <a:avLst/>
          </a:prstGeom>
          <a:ln w="1270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3154680" y="3182112"/>
            <a:ext cx="5440680" cy="502920"/>
          </a:xfrm>
          <a:prstGeom prst="roundRect">
            <a:avLst/>
          </a:prstGeom>
          <a:solidFill>
            <a:srgbClr val="FFFBE8"/>
          </a:solidFill>
          <a:ln w="13970">
            <a:solidFill>
              <a:srgbClr val="F2B8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50" b="1">
                <a:solidFill>
                  <a:srgbClr val="000E4F"/>
                </a:solidFill>
                <a:latin typeface="微软雅黑"/>
              </a:rPr>
              <a:t>Notebook 留痕 / 成绩反馈 / 课程数据沉淀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160520"/>
            <a:ext cx="2286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1">
                <a:solidFill>
                  <a:srgbClr val="000E4F"/>
                </a:solidFill>
                <a:latin typeface="微软雅黑"/>
              </a:rPr>
              <a:t>阶段性创新点</a:t>
            </a:r>
          </a:p>
        </p:txBody>
      </p:sp>
      <p:sp>
        <p:nvSpPr>
          <p:cNvPr id="21" name="Oval 20"/>
          <p:cNvSpPr/>
          <p:nvPr/>
        </p:nvSpPr>
        <p:spPr>
          <a:xfrm>
            <a:off x="914400" y="4690872"/>
            <a:ext cx="384048" cy="384048"/>
          </a:xfrm>
          <a:prstGeom prst="ellipse">
            <a:avLst/>
          </a:prstGeom>
          <a:solidFill>
            <a:srgbClr val="192D96"/>
          </a:solidFill>
          <a:ln>
            <a:solidFill>
              <a:srgbClr val="192D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389888" y="4617720"/>
            <a:ext cx="2057400" cy="347472"/>
          </a:xfrm>
          <a:prstGeom prst="roundRect">
            <a:avLst/>
          </a:prstGeom>
          <a:solidFill>
            <a:srgbClr val="192D96"/>
          </a:solidFill>
          <a:ln w="13970">
            <a:solidFill>
              <a:srgbClr val="192D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50" b="1">
                <a:solidFill>
                  <a:srgbClr val="FFFFFF"/>
                </a:solidFill>
                <a:latin typeface="微软雅黑"/>
              </a:rPr>
              <a:t>统一课程主线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89888" y="5029200"/>
            <a:ext cx="2331720" cy="713232"/>
          </a:xfrm>
          <a:prstGeom prst="roundRect">
            <a:avLst/>
          </a:prstGeom>
          <a:solidFill>
            <a:srgbClr val="F8FBFF"/>
          </a:solidFill>
          <a:ln w="13970">
            <a:solidFill>
              <a:srgbClr val="192D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80" b="0">
                <a:solidFill>
                  <a:srgbClr val="1F1F1F"/>
                </a:solidFill>
                <a:latin typeface="微软雅黑"/>
              </a:rPr>
              <a:t>以 course_id 和用户分组贯穿身份、容器、作业与权限。</a:t>
            </a:r>
          </a:p>
        </p:txBody>
      </p:sp>
      <p:sp>
        <p:nvSpPr>
          <p:cNvPr id="24" name="Oval 23"/>
          <p:cNvSpPr/>
          <p:nvPr/>
        </p:nvSpPr>
        <p:spPr>
          <a:xfrm>
            <a:off x="3977639" y="4690872"/>
            <a:ext cx="384048" cy="384048"/>
          </a:xfrm>
          <a:prstGeom prst="ellipse">
            <a:avLst/>
          </a:prstGeom>
          <a:solidFill>
            <a:srgbClr val="1F8A70"/>
          </a:solidFill>
          <a:ln>
            <a:solidFill>
              <a:srgbClr val="1F8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53127" y="4617720"/>
            <a:ext cx="2057400" cy="347472"/>
          </a:xfrm>
          <a:prstGeom prst="roundRect">
            <a:avLst/>
          </a:prstGeom>
          <a:solidFill>
            <a:srgbClr val="1F8A70"/>
          </a:solidFill>
          <a:ln w="13970">
            <a:solidFill>
              <a:srgbClr val="1F8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50" b="1">
                <a:solidFill>
                  <a:srgbClr val="FFFFFF"/>
                </a:solidFill>
                <a:latin typeface="微软雅黑"/>
              </a:rPr>
              <a:t>双层权限控制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53127" y="5029200"/>
            <a:ext cx="2331720" cy="713232"/>
          </a:xfrm>
          <a:prstGeom prst="roundRect">
            <a:avLst/>
          </a:prstGeom>
          <a:solidFill>
            <a:srgbClr val="F8FBFF"/>
          </a:solidFill>
          <a:ln w="13970">
            <a:solidFill>
              <a:srgbClr val="1F8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80" b="0">
                <a:solidFill>
                  <a:srgbClr val="1F1F1F"/>
                </a:solidFill>
                <a:latin typeface="微软雅黑"/>
              </a:rPr>
              <a:t>后端接口禁用与前端插件隐藏协同，区分教师端与学生端。</a:t>
            </a:r>
          </a:p>
        </p:txBody>
      </p:sp>
      <p:sp>
        <p:nvSpPr>
          <p:cNvPr id="27" name="Oval 26"/>
          <p:cNvSpPr/>
          <p:nvPr/>
        </p:nvSpPr>
        <p:spPr>
          <a:xfrm>
            <a:off x="7040880" y="4690872"/>
            <a:ext cx="384048" cy="384048"/>
          </a:xfrm>
          <a:prstGeom prst="ellipse">
            <a:avLst/>
          </a:prstGeom>
          <a:solidFill>
            <a:srgbClr val="E0722A"/>
          </a:solidFill>
          <a:ln>
            <a:solidFill>
              <a:srgbClr val="E07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516368" y="4617720"/>
            <a:ext cx="2057400" cy="347472"/>
          </a:xfrm>
          <a:prstGeom prst="roundRect">
            <a:avLst/>
          </a:prstGeom>
          <a:solidFill>
            <a:srgbClr val="E0722A"/>
          </a:solidFill>
          <a:ln w="13970">
            <a:solidFill>
              <a:srgbClr val="E07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50" b="1">
                <a:solidFill>
                  <a:srgbClr val="FFFFFF"/>
                </a:solidFill>
                <a:latin typeface="微软雅黑"/>
              </a:rPr>
              <a:t>可执行实验文档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516368" y="5029200"/>
            <a:ext cx="2331720" cy="713232"/>
          </a:xfrm>
          <a:prstGeom prst="roundRect">
            <a:avLst/>
          </a:prstGeom>
          <a:solidFill>
            <a:srgbClr val="F8FBFF"/>
          </a:solidFill>
          <a:ln w="13970">
            <a:solidFill>
              <a:srgbClr val="E07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80" b="0">
                <a:solidFill>
                  <a:srgbClr val="1F1F1F"/>
                </a:solidFill>
                <a:latin typeface="微软雅黑"/>
              </a:rPr>
              <a:t>参数面板自动生成 Notebook，让仿真过程、代码和结果同时可见。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815584"/>
            <a:ext cx="10058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80" b="0">
                <a:solidFill>
                  <a:srgbClr val="555555"/>
                </a:solidFill>
                <a:latin typeface="微软雅黑"/>
              </a:rPr>
              <a:t>总结：本阶段已形成一个面向教学实验场景的完整平台原型，并完成核心业务链路和传热学实验模块设计。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56cd3648-937c-4874-9f95-4acb325bf9ad"/>
  <p:tag name="COMMONDATA" val="eyJoZGlkIjoiM2E1ZWQ2M2NjYjQ5NWUxYzUzOTVmNmZiNjI5ZmVjMzQifQ=="/>
  <p:tag name="RESOURCE_RECORD_KEY" val="{&quot;13&quot;:[4650186]}"/>
</p:tagLst>
</file>

<file path=ppt/theme/theme1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4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6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27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29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31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3900</TotalTime>
  <Words>2094</Words>
  <Application>Microsoft Office PowerPoint</Application>
  <PresentationFormat>宽屏</PresentationFormat>
  <Paragraphs>169</Paragraphs>
  <Slides>21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7</vt:i4>
      </vt:variant>
      <vt:variant>
        <vt:lpstr>幻灯片标题</vt:lpstr>
      </vt:variant>
      <vt:variant>
        <vt:i4>21</vt:i4>
      </vt:variant>
    </vt:vector>
  </HeadingPairs>
  <TitlesOfParts>
    <vt:vector size="36" baseType="lpstr">
      <vt:lpstr>黑体</vt:lpstr>
      <vt:lpstr>华文新魏</vt:lpstr>
      <vt:lpstr>微软雅黑</vt:lpstr>
      <vt:lpstr>Arial</vt:lpstr>
      <vt:lpstr>Calibri</vt:lpstr>
      <vt:lpstr>Georgia</vt:lpstr>
      <vt:lpstr>Times</vt:lpstr>
      <vt:lpstr>Times New Roman</vt:lpstr>
      <vt:lpstr>2_自定义设计方案</vt:lpstr>
      <vt:lpstr>1_自定义设计方案</vt:lpstr>
      <vt:lpstr>4_自定义设计方案</vt:lpstr>
      <vt:lpstr>26_自定义设计方案</vt:lpstr>
      <vt:lpstr>27_自定义设计方案</vt:lpstr>
      <vt:lpstr>29_自定义设计方案</vt:lpstr>
      <vt:lpstr>31_自定义设计方案</vt:lpstr>
      <vt:lpstr>PowerPoint 演示文稿</vt:lpstr>
      <vt:lpstr>汇报提纲</vt:lpstr>
      <vt:lpstr>研究背景</vt:lpstr>
      <vt:lpstr>研究背景</vt:lpstr>
      <vt:lpstr>汇报提纲</vt:lpstr>
      <vt:lpstr>研究现状</vt:lpstr>
      <vt:lpstr>研究现状</vt:lpstr>
      <vt:lpstr>研究现状</vt:lpstr>
      <vt:lpstr>研究现状</vt:lpstr>
      <vt:lpstr>研究现状</vt:lpstr>
      <vt:lpstr>研究现状</vt:lpstr>
      <vt:lpstr>研究现状</vt:lpstr>
      <vt:lpstr>研究现状</vt:lpstr>
      <vt:lpstr>研究现状</vt:lpstr>
      <vt:lpstr>汇报提纲</vt:lpstr>
      <vt:lpstr>研究内容</vt:lpstr>
      <vt:lpstr>汇报提纲</vt:lpstr>
      <vt:lpstr>研究方案</vt:lpstr>
      <vt:lpstr>研究方案</vt:lpstr>
      <vt:lpstr>研究方案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Administrator</dc:creator>
  <cp:lastModifiedBy>YuanGuangzhen323@outlook.com</cp:lastModifiedBy>
  <cp:revision>1217</cp:revision>
  <dcterms:created xsi:type="dcterms:W3CDTF">2019-06-19T02:08:00Z</dcterms:created>
  <dcterms:modified xsi:type="dcterms:W3CDTF">2025-10-14T15:00:39Z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2052-12.1.0.18608</vt:lpwstr>
  </property>
  <property fmtid="{D5CDD505-2E9C-101B-9397-08002B2CF9AE}" pid="3" name="ICV">
    <vt:lpwstr>0389179F02B940B4B0D8E13446C3F16C_13</vt:lpwstr>
  </property>
</Properties>
</file>