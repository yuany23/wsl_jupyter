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00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999" cy="7315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09728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FFFFFF"/>
                </a:solidFill>
                <a:latin typeface="微软雅黑"/>
              </a:rPr>
              <a:t>显示计算代码的热力仿真系统总体研究框架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82296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173736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>
                <a:solidFill>
                  <a:srgbClr val="B7E9FC"/>
                </a:solidFill>
                <a:latin typeface="微软雅黑"/>
              </a:rPr>
              <a:t>第三部分  研究内容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528816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B7280"/>
                </a:solidFill>
                <a:latin typeface="微软雅黑"/>
              </a:rPr>
              <a:t>显示计算代码的热力仿真系统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1052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C0504D"/>
                </a:solidFill>
                <a:latin typeface="微软雅黑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60120"/>
            <a:ext cx="4617720" cy="4315968"/>
          </a:xfrm>
          <a:prstGeom prst="rect">
            <a:avLst/>
          </a:prstGeom>
          <a:solidFill>
            <a:srgbClr val="F2F9FC"/>
          </a:solidFill>
          <a:ln w="12700">
            <a:solidFill>
              <a:srgbClr val="B7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170432"/>
            <a:ext cx="1170432" cy="310896"/>
          </a:xfrm>
          <a:prstGeom prst="rect">
            <a:avLst/>
          </a:prstGeom>
          <a:solidFill>
            <a:srgbClr val="000E4F"/>
          </a:solidFill>
          <a:ln w="12700">
            <a:solidFill>
              <a:srgbClr val="00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207008"/>
            <a:ext cx="10789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研究定位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572768"/>
            <a:ext cx="406908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10" b="0">
                <a:solidFill>
                  <a:srgbClr val="111827"/>
                </a:solidFill>
                <a:latin typeface="微软雅黑"/>
              </a:rPr>
              <a:t>本研究面向热力系统仿真过程中模型关系不清、计算过程不透明、学习者难以理解“物理模型—数学方程—程序代码—仿真结果”之间联系的问题，构建一个以可执行代码为核心的白箱式热力仿真系统。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788920"/>
            <a:ext cx="1170432" cy="310896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825496"/>
            <a:ext cx="10789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系统目标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182112"/>
            <a:ext cx="4069080" cy="9509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10" b="0">
                <a:solidFill>
                  <a:srgbClr val="111827"/>
                </a:solidFill>
                <a:latin typeface="微软雅黑"/>
              </a:rPr>
              <a:t>系统将热力建模、数值求解、代码展示、结果可视化和教学实验组织在统一环境中，实现从参数输入到模型方程、从求解代码到仿真结果的全过程展示与复现。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44398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920000"/>
                </a:solidFill>
                <a:latin typeface="微软雅黑"/>
              </a:rPr>
              <a:t>不是只给出仿真结果，而是展示热力问题如何被建模、计算和验证。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1024128"/>
            <a:ext cx="1115568" cy="932688"/>
          </a:xfrm>
          <a:prstGeom prst="rect">
            <a:avLst/>
          </a:prstGeom>
          <a:solidFill>
            <a:srgbClr val="FFFFFF"/>
          </a:solidFill>
          <a:ln w="17780">
            <a:solidFill>
              <a:srgbClr val="00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9552" y="1106424"/>
            <a:ext cx="969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20" b="1">
                <a:solidFill>
                  <a:srgbClr val="000E4F"/>
                </a:solidFill>
                <a:latin typeface="微软雅黑"/>
              </a:rPr>
              <a:t>热力对象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9552" y="1399032"/>
            <a:ext cx="9692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40" b="0">
                <a:solidFill>
                  <a:srgbClr val="111827"/>
                </a:solidFill>
                <a:latin typeface="微软雅黑"/>
              </a:rPr>
              <a:t>导热 / 对流</a:t>
            </a:r>
          </a:p>
          <a:p>
            <a:pPr algn="ctr">
              <a:lnSpc>
                <a:spcPct val="108000"/>
              </a:lnSpc>
            </a:pPr>
            <a:r>
              <a:rPr sz="940" b="0">
                <a:solidFill>
                  <a:srgbClr val="111827"/>
                </a:solidFill>
                <a:latin typeface="微软雅黑"/>
              </a:rPr>
              <a:t>辐射 / 综合换热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29400" y="1490472"/>
            <a:ext cx="146303" cy="0"/>
          </a:xfrm>
          <a:prstGeom prst="line">
            <a:avLst/>
          </a:prstGeom>
          <a:ln w="1397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803136" y="1024128"/>
            <a:ext cx="1115568" cy="932688"/>
          </a:xfrm>
          <a:prstGeom prst="rect">
            <a:avLst/>
          </a:prstGeom>
          <a:solidFill>
            <a:srgbClr val="FFFFFF"/>
          </a:solidFill>
          <a:ln w="17780">
            <a:solidFill>
              <a:srgbClr val="003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6288" y="1106424"/>
            <a:ext cx="969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20" b="1">
                <a:solidFill>
                  <a:srgbClr val="003980"/>
                </a:solidFill>
                <a:latin typeface="微软雅黑"/>
              </a:rPr>
              <a:t>数学模型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1399032"/>
            <a:ext cx="9692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40" b="0">
                <a:solidFill>
                  <a:srgbClr val="111827"/>
                </a:solidFill>
                <a:latin typeface="微软雅黑"/>
              </a:rPr>
              <a:t>控制方程</a:t>
            </a:r>
          </a:p>
          <a:p>
            <a:pPr algn="ctr">
              <a:lnSpc>
                <a:spcPct val="108000"/>
              </a:lnSpc>
            </a:pPr>
            <a:r>
              <a:rPr sz="940" b="0">
                <a:solidFill>
                  <a:srgbClr val="111827"/>
                </a:solidFill>
                <a:latin typeface="微软雅黑"/>
              </a:rPr>
              <a:t>边界条件</a:t>
            </a:r>
          </a:p>
          <a:p>
            <a:pPr algn="ctr">
              <a:lnSpc>
                <a:spcPct val="108000"/>
              </a:lnSpc>
            </a:pPr>
            <a:r>
              <a:rPr sz="940" b="0">
                <a:solidFill>
                  <a:srgbClr val="111827"/>
                </a:solidFill>
                <a:latin typeface="微软雅黑"/>
              </a:rPr>
              <a:t>物性参数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46136" y="1490472"/>
            <a:ext cx="146304" cy="0"/>
          </a:xfrm>
          <a:prstGeom prst="line">
            <a:avLst/>
          </a:prstGeom>
          <a:ln w="1397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119871" y="1024128"/>
            <a:ext cx="1115568" cy="932688"/>
          </a:xfrm>
          <a:prstGeom prst="rect">
            <a:avLst/>
          </a:prstGeom>
          <a:solidFill>
            <a:srgbClr val="FFFFFF"/>
          </a:solidFill>
          <a:ln w="1778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3023" y="1106424"/>
            <a:ext cx="969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20" b="1">
                <a:solidFill>
                  <a:srgbClr val="C0504D"/>
                </a:solidFill>
                <a:latin typeface="微软雅黑"/>
              </a:rPr>
              <a:t>数值求解代码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3" y="1399032"/>
            <a:ext cx="9692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40" b="0">
                <a:solidFill>
                  <a:srgbClr val="111827"/>
                </a:solidFill>
                <a:latin typeface="微软雅黑"/>
              </a:rPr>
              <a:t>参数定义</a:t>
            </a:r>
          </a:p>
          <a:p>
            <a:pPr algn="ctr">
              <a:lnSpc>
                <a:spcPct val="108000"/>
              </a:lnSpc>
            </a:pPr>
            <a:r>
              <a:rPr sz="940" b="0">
                <a:solidFill>
                  <a:srgbClr val="111827"/>
                </a:solidFill>
                <a:latin typeface="微软雅黑"/>
              </a:rPr>
              <a:t>方程构建</a:t>
            </a:r>
          </a:p>
          <a:p>
            <a:pPr algn="ctr">
              <a:lnSpc>
                <a:spcPct val="108000"/>
              </a:lnSpc>
            </a:pPr>
            <a:r>
              <a:rPr sz="940" b="0">
                <a:solidFill>
                  <a:srgbClr val="111827"/>
                </a:solidFill>
                <a:latin typeface="微软雅黑"/>
              </a:rPr>
              <a:t>离散求解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62872" y="1490472"/>
            <a:ext cx="146304" cy="0"/>
          </a:xfrm>
          <a:prstGeom prst="line">
            <a:avLst/>
          </a:prstGeom>
          <a:ln w="1397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436608" y="1024128"/>
            <a:ext cx="1115568" cy="932688"/>
          </a:xfrm>
          <a:prstGeom prst="rect">
            <a:avLst/>
          </a:prstGeom>
          <a:solidFill>
            <a:srgbClr val="FFFFFF"/>
          </a:solidFill>
          <a:ln w="17780">
            <a:solidFill>
              <a:srgbClr val="007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1106424"/>
            <a:ext cx="969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20" b="1">
                <a:solidFill>
                  <a:srgbClr val="007EC8"/>
                </a:solidFill>
                <a:latin typeface="微软雅黑"/>
              </a:rPr>
              <a:t>结果可视化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1399032"/>
            <a:ext cx="9692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40" b="0">
                <a:solidFill>
                  <a:srgbClr val="111827"/>
                </a:solidFill>
                <a:latin typeface="微软雅黑"/>
              </a:rPr>
              <a:t>温度分布</a:t>
            </a:r>
          </a:p>
          <a:p>
            <a:pPr algn="ctr">
              <a:lnSpc>
                <a:spcPct val="108000"/>
              </a:lnSpc>
            </a:pPr>
            <a:r>
              <a:rPr sz="940" b="0">
                <a:solidFill>
                  <a:srgbClr val="111827"/>
                </a:solidFill>
                <a:latin typeface="微软雅黑"/>
              </a:rPr>
              <a:t>热流密度</a:t>
            </a:r>
          </a:p>
          <a:p>
            <a:pPr algn="ctr">
              <a:lnSpc>
                <a:spcPct val="108000"/>
              </a:lnSpc>
            </a:pPr>
            <a:r>
              <a:rPr sz="940" b="0">
                <a:solidFill>
                  <a:srgbClr val="111827"/>
                </a:solidFill>
                <a:latin typeface="微软雅黑"/>
              </a:rPr>
              <a:t>变化曲线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579608" y="1490472"/>
            <a:ext cx="146304" cy="0"/>
          </a:xfrm>
          <a:prstGeom prst="line">
            <a:avLst/>
          </a:prstGeom>
          <a:ln w="1397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0753344" y="1024128"/>
            <a:ext cx="1115568" cy="932688"/>
          </a:xfrm>
          <a:prstGeom prst="rect">
            <a:avLst/>
          </a:prstGeom>
          <a:solidFill>
            <a:srgbClr val="FFFFFF"/>
          </a:solidFill>
          <a:ln w="1778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26496" y="1106424"/>
            <a:ext cx="969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20" b="1">
                <a:solidFill>
                  <a:srgbClr val="192D96"/>
                </a:solidFill>
                <a:latin typeface="微软雅黑"/>
              </a:rPr>
              <a:t>教学实验应用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6496" y="1399032"/>
            <a:ext cx="9692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40" b="0">
                <a:solidFill>
                  <a:srgbClr val="111827"/>
                </a:solidFill>
                <a:latin typeface="微软雅黑"/>
              </a:rPr>
              <a:t>实验任务</a:t>
            </a:r>
          </a:p>
          <a:p>
            <a:pPr algn="ctr">
              <a:lnSpc>
                <a:spcPct val="108000"/>
              </a:lnSpc>
            </a:pPr>
            <a:r>
              <a:rPr sz="940" b="0">
                <a:solidFill>
                  <a:srgbClr val="111827"/>
                </a:solidFill>
                <a:latin typeface="微软雅黑"/>
              </a:rPr>
              <a:t>复算修改</a:t>
            </a:r>
          </a:p>
          <a:p>
            <a:pPr algn="ctr">
              <a:lnSpc>
                <a:spcPct val="108000"/>
              </a:lnSpc>
            </a:pPr>
            <a:r>
              <a:rPr sz="940" b="0">
                <a:solidFill>
                  <a:srgbClr val="111827"/>
                </a:solidFill>
                <a:latin typeface="微软雅黑"/>
              </a:rPr>
              <a:t>提交反馈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2523744"/>
            <a:ext cx="6126480" cy="1965960"/>
          </a:xfrm>
          <a:prstGeom prst="rect">
            <a:avLst/>
          </a:prstGeom>
          <a:solidFill>
            <a:srgbClr val="EDF8FC"/>
          </a:solidFill>
          <a:ln w="12700">
            <a:solidFill>
              <a:srgbClr val="B7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42432" y="272491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0E4F"/>
                </a:solidFill>
                <a:latin typeface="微软雅黑"/>
              </a:rPr>
              <a:t>研究重点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05856" y="3054096"/>
            <a:ext cx="5440680" cy="932688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buChar char="•"/>
              <a:lnSpc>
                <a:spcPct val="104000"/>
              </a:lnSpc>
              <a:spcAft>
                <a:spcPts val="400"/>
              </a:spcAft>
              <a:defRPr sz="1220">
                <a:solidFill>
                  <a:srgbClr val="111827"/>
                </a:solidFill>
                <a:latin typeface="微软雅黑"/>
              </a:defRPr>
            </a:pPr>
            <a:r>
              <a:t>将热力对象、数学模型、代码执行与结果可视化贯通</a:t>
            </a:r>
          </a:p>
          <a:p>
            <a:pPr>
              <a:buChar char="•"/>
              <a:lnSpc>
                <a:spcPct val="104000"/>
              </a:lnSpc>
              <a:spcAft>
                <a:spcPts val="400"/>
              </a:spcAft>
              <a:defRPr sz="1220">
                <a:solidFill>
                  <a:srgbClr val="111827"/>
                </a:solidFill>
                <a:latin typeface="微软雅黑"/>
              </a:defRPr>
            </a:pPr>
            <a:r>
              <a:t>通过 Notebook 保存完整计算链路，支持复算与修改</a:t>
            </a:r>
          </a:p>
          <a:p>
            <a:pPr>
              <a:buChar char="•"/>
              <a:lnSpc>
                <a:spcPct val="104000"/>
              </a:lnSpc>
              <a:spcAft>
                <a:spcPts val="400"/>
              </a:spcAft>
              <a:defRPr sz="1220">
                <a:solidFill>
                  <a:srgbClr val="111827"/>
                </a:solidFill>
                <a:latin typeface="微软雅黑"/>
              </a:defRPr>
            </a:pPr>
            <a:r>
              <a:t>以白箱式表达降低传统 GUI 仿真的黑箱化问题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0" y="4864608"/>
            <a:ext cx="544068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000E4F"/>
                </a:solidFill>
                <a:latin typeface="微软雅黑"/>
              </a:rPr>
              <a:t>研究重点：实现热力仿真过程的透明化、代码化与可复现表达。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00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999" cy="7315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09728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FFFFFF"/>
                </a:solidFill>
                <a:latin typeface="微软雅黑"/>
              </a:rPr>
              <a:t>热设计典型问题的建模对象与方程体系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82296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173736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>
                <a:solidFill>
                  <a:srgbClr val="B7E9FC"/>
                </a:solidFill>
                <a:latin typeface="微软雅黑"/>
              </a:rPr>
              <a:t>第三部分  研究内容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528816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B7280"/>
                </a:solidFill>
                <a:latin typeface="微软雅黑"/>
              </a:rPr>
              <a:t>显示计算代码的热力仿真系统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1052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C0504D"/>
                </a:solidFill>
                <a:latin typeface="微软雅黑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941832"/>
            <a:ext cx="55321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111827"/>
                </a:solidFill>
                <a:latin typeface="微软雅黑"/>
              </a:rPr>
              <a:t>本研究选取热设计与热力系统分析中的典型传热问题作为建模对象，围绕导热、对流换热、热辐射及综合换热过程，建立相应的数学模型与参数体系。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27632"/>
            <a:ext cx="55321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111827"/>
                </a:solidFill>
                <a:latin typeface="微软雅黑"/>
              </a:rPr>
              <a:t>建模过程从物理问题出发，明确研究对象、基本假设、控制方程、边界条件和物性参数，将实际热设计问题转化为可计算、可执行、可验证的数学模型。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23744"/>
            <a:ext cx="5321808" cy="20116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buChar char="•"/>
              <a:lnSpc>
                <a:spcPct val="104000"/>
              </a:lnSpc>
              <a:spcAft>
                <a:spcPts val="400"/>
              </a:spcAft>
              <a:defRPr sz="1320">
                <a:solidFill>
                  <a:srgbClr val="111827"/>
                </a:solidFill>
                <a:latin typeface="微软雅黑"/>
              </a:defRPr>
            </a:pPr>
            <a:r>
              <a:t>面向热设计中的典型传热问题开展建模</a:t>
            </a:r>
          </a:p>
          <a:p>
            <a:pPr>
              <a:buChar char="•"/>
              <a:lnSpc>
                <a:spcPct val="104000"/>
              </a:lnSpc>
              <a:spcAft>
                <a:spcPts val="400"/>
              </a:spcAft>
              <a:defRPr sz="1320">
                <a:solidFill>
                  <a:srgbClr val="111827"/>
                </a:solidFill>
                <a:latin typeface="微软雅黑"/>
              </a:defRPr>
            </a:pPr>
            <a:r>
              <a:t>覆盖稳态导热、瞬态导热、对流换热、热辐射等基础场景</a:t>
            </a:r>
          </a:p>
          <a:p>
            <a:pPr>
              <a:buChar char="•"/>
              <a:lnSpc>
                <a:spcPct val="104000"/>
              </a:lnSpc>
              <a:spcAft>
                <a:spcPts val="400"/>
              </a:spcAft>
              <a:defRPr sz="1320">
                <a:solidFill>
                  <a:srgbClr val="111827"/>
                </a:solidFill>
                <a:latin typeface="微软雅黑"/>
              </a:defRPr>
            </a:pPr>
            <a:r>
              <a:t>明确导热系数、换热系数、温度场、热流密度等关键变量</a:t>
            </a:r>
          </a:p>
          <a:p>
            <a:pPr>
              <a:buChar char="•"/>
              <a:lnSpc>
                <a:spcPct val="104000"/>
              </a:lnSpc>
              <a:spcAft>
                <a:spcPts val="400"/>
              </a:spcAft>
              <a:defRPr sz="1320">
                <a:solidFill>
                  <a:srgbClr val="111827"/>
                </a:solidFill>
                <a:latin typeface="微软雅黑"/>
              </a:defRPr>
            </a:pPr>
            <a:r>
              <a:t>建立控制方程、边界条件和物性参数之间的对应关系</a:t>
            </a:r>
          </a:p>
          <a:p>
            <a:pPr>
              <a:buChar char="•"/>
              <a:lnSpc>
                <a:spcPct val="104000"/>
              </a:lnSpc>
              <a:spcAft>
                <a:spcPts val="400"/>
              </a:spcAft>
              <a:defRPr sz="1320">
                <a:solidFill>
                  <a:srgbClr val="111827"/>
                </a:solidFill>
                <a:latin typeface="微软雅黑"/>
              </a:defRPr>
            </a:pPr>
            <a:r>
              <a:t>为后续数值求解、代码生成和结果可视化提供模型基础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956048"/>
            <a:ext cx="5303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920000"/>
                </a:solidFill>
                <a:latin typeface="微软雅黑"/>
              </a:rPr>
              <a:t>系统展示的不是单一计算结果，而是热力问题从物理对象到数学方程的建模过程。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987552"/>
            <a:ext cx="4800600" cy="4389120"/>
          </a:xfrm>
          <a:prstGeom prst="rect">
            <a:avLst/>
          </a:prstGeom>
          <a:solidFill>
            <a:srgbClr val="F2F9FC"/>
          </a:solidFill>
          <a:ln w="12700">
            <a:solidFill>
              <a:srgbClr val="B7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1170432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000E4F"/>
                </a:solidFill>
                <a:latin typeface="微软雅黑"/>
              </a:rPr>
              <a:t>热设计典型问题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9712" y="1719072"/>
            <a:ext cx="1993392" cy="1243584"/>
          </a:xfrm>
          <a:prstGeom prst="rect">
            <a:avLst/>
          </a:prstGeom>
          <a:solidFill>
            <a:srgbClr val="FFFFFF"/>
          </a:solidFill>
          <a:ln w="15875">
            <a:solidFill>
              <a:srgbClr val="00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1810512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60" b="1">
                <a:solidFill>
                  <a:srgbClr val="000E4F"/>
                </a:solidFill>
                <a:latin typeface="微软雅黑"/>
              </a:rPr>
              <a:t>导热问题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139696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0" b="0">
                <a:solidFill>
                  <a:srgbClr val="111827"/>
                </a:solidFill>
                <a:latin typeface="微软雅黑"/>
              </a:rPr>
              <a:t>输入：k、尺寸、边界温度</a:t>
            </a:r>
          </a:p>
          <a:p>
            <a:pPr algn="l">
              <a:lnSpc>
                <a:spcPct val="108000"/>
              </a:lnSpc>
            </a:pPr>
            <a:r>
              <a:rPr sz="860" b="0">
                <a:solidFill>
                  <a:srgbClr val="111827"/>
                </a:solidFill>
                <a:latin typeface="微软雅黑"/>
              </a:rPr>
              <a:t>方程：傅里叶定律、热传导方程</a:t>
            </a:r>
          </a:p>
          <a:p>
            <a:pPr algn="l">
              <a:lnSpc>
                <a:spcPct val="108000"/>
              </a:lnSpc>
            </a:pPr>
            <a:r>
              <a:rPr sz="860" b="0">
                <a:solidFill>
                  <a:srgbClr val="111827"/>
                </a:solidFill>
                <a:latin typeface="微软雅黑"/>
              </a:rPr>
              <a:t>输出：温度分布、热流密度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5984" y="1719072"/>
            <a:ext cx="1993392" cy="1243584"/>
          </a:xfrm>
          <a:prstGeom prst="rect">
            <a:avLst/>
          </a:prstGeom>
          <a:solidFill>
            <a:srgbClr val="FFFFFF"/>
          </a:solidFill>
          <a:ln w="1587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1" y="1810512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60" b="1">
                <a:solidFill>
                  <a:srgbClr val="C0504D"/>
                </a:solidFill>
                <a:latin typeface="微软雅黑"/>
              </a:rPr>
              <a:t>对流换热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2139696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0" b="0">
                <a:solidFill>
                  <a:srgbClr val="111827"/>
                </a:solidFill>
                <a:latin typeface="微软雅黑"/>
              </a:rPr>
              <a:t>输入：h、流体温度、换热面积</a:t>
            </a:r>
          </a:p>
          <a:p>
            <a:pPr algn="l">
              <a:lnSpc>
                <a:spcPct val="108000"/>
              </a:lnSpc>
            </a:pPr>
            <a:r>
              <a:rPr sz="860" b="0">
                <a:solidFill>
                  <a:srgbClr val="111827"/>
                </a:solidFill>
                <a:latin typeface="微软雅黑"/>
              </a:rPr>
              <a:t>方程：牛顿冷却公式</a:t>
            </a:r>
          </a:p>
          <a:p>
            <a:pPr algn="l">
              <a:lnSpc>
                <a:spcPct val="108000"/>
              </a:lnSpc>
            </a:pPr>
            <a:r>
              <a:rPr sz="860" b="0">
                <a:solidFill>
                  <a:srgbClr val="111827"/>
                </a:solidFill>
                <a:latin typeface="微软雅黑"/>
              </a:rPr>
              <a:t>输出：换热量、表面温度变化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39712" y="3364992"/>
            <a:ext cx="1993392" cy="1243584"/>
          </a:xfrm>
          <a:prstGeom prst="rect">
            <a:avLst/>
          </a:prstGeom>
          <a:solidFill>
            <a:srgbClr val="FFFFFF"/>
          </a:solidFill>
          <a:ln w="15875">
            <a:solidFill>
              <a:srgbClr val="007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3456432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60" b="1">
                <a:solidFill>
                  <a:srgbClr val="007EC8"/>
                </a:solidFill>
                <a:latin typeface="微软雅黑"/>
              </a:rPr>
              <a:t>热辐射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3785616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0" b="0">
                <a:solidFill>
                  <a:srgbClr val="111827"/>
                </a:solidFill>
                <a:latin typeface="微软雅黑"/>
              </a:rPr>
              <a:t>输入：表面温度、发射率、面积</a:t>
            </a:r>
          </a:p>
          <a:p>
            <a:pPr algn="l">
              <a:lnSpc>
                <a:spcPct val="108000"/>
              </a:lnSpc>
            </a:pPr>
            <a:r>
              <a:rPr sz="860" b="0">
                <a:solidFill>
                  <a:srgbClr val="111827"/>
                </a:solidFill>
                <a:latin typeface="微软雅黑"/>
              </a:rPr>
              <a:t>方程：斯忒藩-玻尔兹曼定律</a:t>
            </a:r>
          </a:p>
          <a:p>
            <a:pPr algn="l">
              <a:lnSpc>
                <a:spcPct val="108000"/>
              </a:lnSpc>
            </a:pPr>
            <a:r>
              <a:rPr sz="860" b="0">
                <a:solidFill>
                  <a:srgbClr val="111827"/>
                </a:solidFill>
                <a:latin typeface="微软雅黑"/>
              </a:rPr>
              <a:t>输出：辐射换热量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15984" y="3364992"/>
            <a:ext cx="1993392" cy="1243584"/>
          </a:xfrm>
          <a:prstGeom prst="rect">
            <a:avLst/>
          </a:prstGeom>
          <a:solidFill>
            <a:srgbClr val="FFFFFF"/>
          </a:solidFill>
          <a:ln w="15875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5711" y="3456432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60" b="1">
                <a:solidFill>
                  <a:srgbClr val="192D96"/>
                </a:solidFill>
                <a:latin typeface="微软雅黑"/>
              </a:rPr>
              <a:t>综合换热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3785616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0" b="0">
                <a:solidFill>
                  <a:srgbClr val="111827"/>
                </a:solidFill>
                <a:latin typeface="微软雅黑"/>
              </a:rPr>
              <a:t>输入：多边界条件、材料参数</a:t>
            </a:r>
          </a:p>
          <a:p>
            <a:pPr algn="l">
              <a:lnSpc>
                <a:spcPct val="108000"/>
              </a:lnSpc>
            </a:pPr>
            <a:r>
              <a:rPr sz="860" b="0">
                <a:solidFill>
                  <a:srgbClr val="111827"/>
                </a:solidFill>
                <a:latin typeface="微软雅黑"/>
              </a:rPr>
              <a:t>方程：热阻网络、能量守恒</a:t>
            </a:r>
          </a:p>
          <a:p>
            <a:pPr algn="l">
              <a:lnSpc>
                <a:spcPct val="108000"/>
              </a:lnSpc>
            </a:pPr>
            <a:r>
              <a:rPr sz="860" b="0">
                <a:solidFill>
                  <a:srgbClr val="111827"/>
                </a:solidFill>
                <a:latin typeface="微软雅黑"/>
              </a:rPr>
              <a:t>输出：综合传热量、系统响应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5532120"/>
            <a:ext cx="44074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10" b="1">
                <a:solidFill>
                  <a:srgbClr val="000E4F"/>
                </a:solidFill>
                <a:latin typeface="微软雅黑"/>
              </a:rPr>
              <a:t>通过建立清晰的热力模型体系，为后续“方程—代码—结果”的白箱式仿真流程奠定基础。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00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999" cy="7315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09728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从热力模型方程到可执行仿真代码的转换机制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82296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173736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>
                <a:solidFill>
                  <a:srgbClr val="B7E9FC"/>
                </a:solidFill>
                <a:latin typeface="微软雅黑"/>
              </a:rPr>
              <a:t>第三部分  研究内容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528816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B7280"/>
                </a:solidFill>
                <a:latin typeface="微软雅黑"/>
              </a:rPr>
              <a:t>显示计算代码的热力仿真系统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1052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C0504D"/>
                </a:solidFill>
                <a:latin typeface="微软雅黑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941832"/>
            <a:ext cx="5486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40" b="0">
                <a:solidFill>
                  <a:srgbClr val="111827"/>
                </a:solidFill>
                <a:latin typeface="微软雅黑"/>
              </a:rPr>
              <a:t>系统将热力模型按照“参数定义、控制方程、离散求解、物理量计算、结果可视化”的顺序组织为可执行 Notebook，使学习者能够看到热力问题如何从数学表达转化为 Python 计算代码。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92224"/>
            <a:ext cx="5257800" cy="14173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buChar char="•"/>
              <a:lnSpc>
                <a:spcPct val="104000"/>
              </a:lnSpc>
              <a:spcAft>
                <a:spcPts val="400"/>
              </a:spcAft>
              <a:defRPr sz="1260">
                <a:solidFill>
                  <a:srgbClr val="111827"/>
                </a:solidFill>
                <a:latin typeface="微软雅黑"/>
              </a:defRPr>
            </a:pPr>
            <a:r>
              <a:t>采用 FDM、FVM、解析解对比等方法支撑不同传热场景</a:t>
            </a:r>
          </a:p>
          <a:p>
            <a:pPr>
              <a:buChar char="•"/>
              <a:lnSpc>
                <a:spcPct val="104000"/>
              </a:lnSpc>
              <a:spcAft>
                <a:spcPts val="400"/>
              </a:spcAft>
              <a:defRPr sz="1260">
                <a:solidFill>
                  <a:srgbClr val="111827"/>
                </a:solidFill>
                <a:latin typeface="微软雅黑"/>
              </a:defRPr>
            </a:pPr>
            <a:r>
              <a:t>Notebook 中同时包含模型说明、公式推导、Python 代码和可视化结果</a:t>
            </a:r>
          </a:p>
          <a:p>
            <a:pPr>
              <a:buChar char="•"/>
              <a:lnSpc>
                <a:spcPct val="104000"/>
              </a:lnSpc>
              <a:spcAft>
                <a:spcPts val="400"/>
              </a:spcAft>
              <a:defRPr sz="1260">
                <a:solidFill>
                  <a:srgbClr val="111827"/>
                </a:solidFill>
                <a:latin typeface="微软雅黑"/>
              </a:defRPr>
            </a:pPr>
            <a:r>
              <a:t>参数改变后可重新执行代码，实现仿真过程复算与结果追踪</a:t>
            </a:r>
          </a:p>
          <a:p>
            <a:pPr>
              <a:buChar char="•"/>
              <a:lnSpc>
                <a:spcPct val="104000"/>
              </a:lnSpc>
              <a:spcAft>
                <a:spcPts val="400"/>
              </a:spcAft>
              <a:defRPr sz="1260">
                <a:solidFill>
                  <a:srgbClr val="111827"/>
                </a:solidFill>
                <a:latin typeface="微软雅黑"/>
              </a:defRPr>
            </a:pPr>
            <a:r>
              <a:t>重点体现“公式如何变成代码”，而不是只展示最终结果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56432"/>
            <a:ext cx="5138928" cy="1133856"/>
          </a:xfrm>
          <a:prstGeom prst="rect">
            <a:avLst/>
          </a:prstGeom>
          <a:solidFill>
            <a:srgbClr val="EDF8FC"/>
          </a:solidFill>
          <a:ln w="12700">
            <a:solidFill>
              <a:srgbClr val="B7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60273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1">
                <a:solidFill>
                  <a:srgbClr val="000E4F"/>
                </a:solidFill>
                <a:latin typeface="微软雅黑"/>
              </a:rPr>
              <a:t>一维稳态导热控制方程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85876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11827"/>
                </a:solidFill>
                <a:latin typeface="Consolas"/>
              </a:rPr>
              <a:t>d²T/dx² = 0      0 &lt; x &lt; L</a:t>
            </a:r>
          </a:p>
          <a:p>
            <a:pPr algn="l">
              <a:lnSpc>
                <a:spcPct val="108000"/>
              </a:lnSpc>
            </a:pPr>
            <a:r>
              <a:rPr sz="1350" b="0">
                <a:solidFill>
                  <a:srgbClr val="111827"/>
                </a:solidFill>
                <a:latin typeface="Consolas"/>
              </a:rPr>
              <a:t>T(0) = T_h       T(L) = T_c</a:t>
            </a:r>
          </a:p>
          <a:p>
            <a:pPr algn="l">
              <a:lnSpc>
                <a:spcPct val="108000"/>
              </a:lnSpc>
            </a:pPr>
            <a:r>
              <a:rPr sz="1350" b="0">
                <a:solidFill>
                  <a:srgbClr val="111827"/>
                </a:solidFill>
                <a:latin typeface="Consolas"/>
              </a:rPr>
              <a:t>T_{i-1} - 2T_i + T_{i+1} = 0     [A]{T} = {b}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950976"/>
            <a:ext cx="5349240" cy="21214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1155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B7E9FC"/>
                </a:solidFill>
                <a:latin typeface="微软雅黑"/>
              </a:rPr>
              <a:t>Python 求解代码片段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444752"/>
            <a:ext cx="489204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90" b="0">
                <a:solidFill>
                  <a:srgbClr val="DDEAFE"/>
                </a:solidFill>
                <a:latin typeface="Consolas"/>
              </a:rPr>
              <a:t>dx = L / (N - 1)</a:t>
            </a:r>
          </a:p>
          <a:p>
            <a:pPr algn="l">
              <a:lnSpc>
                <a:spcPct val="108000"/>
              </a:lnSpc>
            </a:pPr>
            <a:r>
              <a:rPr sz="890" b="0">
                <a:solidFill>
                  <a:srgbClr val="DDEAFE"/>
                </a:solidFill>
                <a:latin typeface="Consolas"/>
              </a:rPr>
              <a:t>A = np.zeros((N, N)); b = np.zeros(N)</a:t>
            </a:r>
          </a:p>
          <a:p>
            <a:pPr algn="l">
              <a:lnSpc>
                <a:spcPct val="108000"/>
              </a:lnSpc>
            </a:pPr>
            <a:r>
              <a:rPr sz="890" b="0">
                <a:solidFill>
                  <a:srgbClr val="DDEAFE"/>
                </a:solidFill>
                <a:latin typeface="Consolas"/>
              </a:rPr>
              <a:t>A[0,0] = 1.0;   b[0] = T_left</a:t>
            </a:r>
          </a:p>
          <a:p>
            <a:pPr algn="l">
              <a:lnSpc>
                <a:spcPct val="108000"/>
              </a:lnSpc>
            </a:pPr>
            <a:r>
              <a:rPr sz="890" b="0">
                <a:solidFill>
                  <a:srgbClr val="DDEAFE"/>
                </a:solidFill>
                <a:latin typeface="Consolas"/>
              </a:rPr>
              <a:t>A[-1,-1] = 1.0; b[-1] = T_right</a:t>
            </a:r>
          </a:p>
          <a:p>
            <a:pPr algn="l">
              <a:lnSpc>
                <a:spcPct val="108000"/>
              </a:lnSpc>
            </a:pPr>
            <a:r>
              <a:rPr sz="890" b="0">
                <a:solidFill>
                  <a:srgbClr val="DDEAFE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890" b="0">
                <a:solidFill>
                  <a:srgbClr val="DDEAFE"/>
                </a:solidFill>
                <a:latin typeface="Consolas"/>
              </a:rPr>
              <a:t>for i in range(1, N - 1):</a:t>
            </a:r>
          </a:p>
          <a:p>
            <a:pPr algn="l">
              <a:lnSpc>
                <a:spcPct val="108000"/>
              </a:lnSpc>
            </a:pPr>
            <a:r>
              <a:rPr sz="890" b="0">
                <a:solidFill>
                  <a:srgbClr val="DDEAFE"/>
                </a:solidFill>
                <a:latin typeface="Consolas"/>
              </a:rPr>
              <a:t>    A[i,i-1] = 1.0</a:t>
            </a:r>
          </a:p>
          <a:p>
            <a:pPr algn="l">
              <a:lnSpc>
                <a:spcPct val="108000"/>
              </a:lnSpc>
            </a:pPr>
            <a:r>
              <a:rPr sz="890" b="0">
                <a:solidFill>
                  <a:srgbClr val="DDEAFE"/>
                </a:solidFill>
                <a:latin typeface="Consolas"/>
              </a:rPr>
              <a:t>    A[i,i]   = -2.0</a:t>
            </a:r>
          </a:p>
          <a:p>
            <a:pPr algn="l">
              <a:lnSpc>
                <a:spcPct val="108000"/>
              </a:lnSpc>
            </a:pPr>
            <a:r>
              <a:rPr sz="890" b="0">
                <a:solidFill>
                  <a:srgbClr val="DDEAFE"/>
                </a:solidFill>
                <a:latin typeface="Consolas"/>
              </a:rPr>
              <a:t>    A[i,i+1] = 1.0</a:t>
            </a:r>
          </a:p>
          <a:p>
            <a:pPr algn="l">
              <a:lnSpc>
                <a:spcPct val="108000"/>
              </a:lnSpc>
            </a:pPr>
            <a:r>
              <a:rPr sz="890" b="0">
                <a:solidFill>
                  <a:srgbClr val="DDEAFE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890" b="0">
                <a:solidFill>
                  <a:srgbClr val="DDEAFE"/>
                </a:solidFill>
                <a:latin typeface="Consolas"/>
              </a:rPr>
              <a:t>T = np.linalg.solve(A, 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657600"/>
            <a:ext cx="896112" cy="859536"/>
          </a:xfrm>
          <a:prstGeom prst="rect">
            <a:avLst/>
          </a:prstGeom>
          <a:solidFill>
            <a:srgbClr val="FFFFFF"/>
          </a:solidFill>
          <a:ln w="1524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375818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60" b="1">
                <a:solidFill>
                  <a:srgbClr val="000E4F"/>
                </a:solidFill>
                <a:latin typeface="微软雅黑"/>
              </a:rPr>
              <a:t>物理参数输入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069080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40" b="0">
                <a:solidFill>
                  <a:srgbClr val="111827"/>
                </a:solidFill>
                <a:latin typeface="微软雅黑"/>
              </a:rPr>
              <a:t>L, k, T_h, T_c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23760" y="4087368"/>
            <a:ext cx="100584" cy="0"/>
          </a:xfrm>
          <a:prstGeom prst="line">
            <a:avLst/>
          </a:prstGeom>
          <a:ln w="1270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42632" y="3657600"/>
            <a:ext cx="896112" cy="859536"/>
          </a:xfrm>
          <a:prstGeom prst="rect">
            <a:avLst/>
          </a:prstGeom>
          <a:solidFill>
            <a:srgbClr val="FFFFFF"/>
          </a:solidFill>
          <a:ln w="1524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375818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60" b="1">
                <a:solidFill>
                  <a:srgbClr val="000E4F"/>
                </a:solidFill>
                <a:latin typeface="微软雅黑"/>
              </a:rPr>
              <a:t>控制方程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4069080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40" b="0">
                <a:solidFill>
                  <a:srgbClr val="111827"/>
                </a:solidFill>
                <a:latin typeface="微软雅黑"/>
              </a:rPr>
              <a:t>d²T/dx² = 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57032" y="4087368"/>
            <a:ext cx="100584" cy="0"/>
          </a:xfrm>
          <a:prstGeom prst="line">
            <a:avLst/>
          </a:prstGeom>
          <a:ln w="1270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375904" y="3657600"/>
            <a:ext cx="896112" cy="859536"/>
          </a:xfrm>
          <a:prstGeom prst="rect">
            <a:avLst/>
          </a:prstGeom>
          <a:solidFill>
            <a:srgbClr val="FFFFFF"/>
          </a:solidFill>
          <a:ln w="1524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75818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60" b="1">
                <a:solidFill>
                  <a:srgbClr val="000E4F"/>
                </a:solidFill>
                <a:latin typeface="微软雅黑"/>
              </a:rPr>
              <a:t>数值离散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4069080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40" b="0">
                <a:solidFill>
                  <a:srgbClr val="111827"/>
                </a:solidFill>
                <a:latin typeface="微软雅黑"/>
              </a:rPr>
              <a:t>FDM / FVM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90304" y="4087368"/>
            <a:ext cx="100584" cy="0"/>
          </a:xfrm>
          <a:prstGeom prst="line">
            <a:avLst/>
          </a:prstGeom>
          <a:ln w="1270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409176" y="3657600"/>
            <a:ext cx="896112" cy="859536"/>
          </a:xfrm>
          <a:prstGeom prst="rect">
            <a:avLst/>
          </a:prstGeom>
          <a:solidFill>
            <a:srgbClr val="FFFFFF"/>
          </a:solidFill>
          <a:ln w="1524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45751" y="375818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60" b="1">
                <a:solidFill>
                  <a:srgbClr val="000E4F"/>
                </a:solidFill>
                <a:latin typeface="微软雅黑"/>
              </a:rPr>
              <a:t>Python 求解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4896" y="4069080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40" b="0">
                <a:solidFill>
                  <a:srgbClr val="111827"/>
                </a:solidFill>
                <a:latin typeface="微软雅黑"/>
              </a:rPr>
              <a:t>矩阵组装 + 求解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323576" y="4087368"/>
            <a:ext cx="100583" cy="0"/>
          </a:xfrm>
          <a:prstGeom prst="line">
            <a:avLst/>
          </a:prstGeom>
          <a:ln w="1270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0442448" y="3657600"/>
            <a:ext cx="896112" cy="859536"/>
          </a:xfrm>
          <a:prstGeom prst="rect">
            <a:avLst/>
          </a:prstGeom>
          <a:solidFill>
            <a:srgbClr val="FFFFFF"/>
          </a:solidFill>
          <a:ln w="1524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79024" y="375818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60" b="1">
                <a:solidFill>
                  <a:srgbClr val="000E4F"/>
                </a:solidFill>
                <a:latin typeface="微软雅黑"/>
              </a:rPr>
              <a:t>结果输出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88168" y="4069080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40" b="0">
                <a:solidFill>
                  <a:srgbClr val="111827"/>
                </a:solidFill>
                <a:latin typeface="微软雅黑"/>
              </a:rPr>
              <a:t>温度 / 热流 / 误差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532120"/>
            <a:ext cx="8503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50" b="1">
                <a:solidFill>
                  <a:srgbClr val="000E4F"/>
                </a:solidFill>
                <a:latin typeface="微软雅黑"/>
              </a:rPr>
              <a:t>系统通过 Notebook 将“模型方程—求解代码—仿真结果”组织为连续、透明、可复现的计算过程。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00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999" cy="7315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09728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FFFFFF"/>
                </a:solidFill>
                <a:latin typeface="微软雅黑"/>
              </a:rPr>
              <a:t>面向代码可见仿真的系统实现架构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82296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173736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>
                <a:solidFill>
                  <a:srgbClr val="B7E9FC"/>
                </a:solidFill>
                <a:latin typeface="微软雅黑"/>
              </a:rPr>
              <a:t>第三部分  研究内容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528816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B7280"/>
                </a:solidFill>
                <a:latin typeface="微软雅黑"/>
              </a:rPr>
              <a:t>显示计算代码的热力仿真系统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1052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C0504D"/>
                </a:solidFill>
                <a:latin typeface="微软雅黑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844784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20" b="0">
                <a:solidFill>
                  <a:srgbClr val="111827"/>
                </a:solidFill>
                <a:latin typeface="微软雅黑"/>
              </a:rPr>
              <a:t>系统以热力仿真流程为主线，将模型选择、参数输入、代码生成、内核执行、结果展示和实验管理集成在统一环境中。JupyterLab、Python Kernel、Docker 和 nbgrader 作为支撑平台，服务于热力模型计算过程的可见化、可运行和可复现。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1828800"/>
            <a:ext cx="5715000" cy="393192"/>
          </a:xfrm>
          <a:prstGeom prst="rect">
            <a:avLst/>
          </a:prstGeom>
          <a:solidFill>
            <a:srgbClr val="FFFFFF"/>
          </a:solidFill>
          <a:ln w="14604">
            <a:solidFill>
              <a:srgbClr val="00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828800"/>
            <a:ext cx="1389888" cy="393192"/>
          </a:xfrm>
          <a:prstGeom prst="rect">
            <a:avLst/>
          </a:prstGeom>
          <a:solidFill>
            <a:srgbClr val="000E4F"/>
          </a:solidFill>
          <a:ln w="12700">
            <a:solidFill>
              <a:srgbClr val="00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11095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用户交互层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0864" y="1920240"/>
            <a:ext cx="39776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60" b="0">
                <a:solidFill>
                  <a:srgbClr val="111827"/>
                </a:solidFill>
                <a:latin typeface="微软雅黑"/>
              </a:rPr>
              <a:t>模型选择 / 参数输入 / 实验入口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75887" y="2240280"/>
            <a:ext cx="0" cy="128016"/>
          </a:xfrm>
          <a:prstGeom prst="line">
            <a:avLst/>
          </a:prstGeom>
          <a:ln w="1270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04672" y="2395728"/>
            <a:ext cx="5715000" cy="393192"/>
          </a:xfrm>
          <a:prstGeom prst="rect">
            <a:avLst/>
          </a:prstGeom>
          <a:solidFill>
            <a:srgbClr val="FFFFFF"/>
          </a:solidFill>
          <a:ln w="14604">
            <a:solidFill>
              <a:srgbClr val="003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" y="2395728"/>
            <a:ext cx="1389888" cy="393192"/>
          </a:xfrm>
          <a:prstGeom prst="rect">
            <a:avLst/>
          </a:prstGeom>
          <a:solidFill>
            <a:srgbClr val="003980"/>
          </a:solidFill>
          <a:ln w="12700">
            <a:solidFill>
              <a:srgbClr val="003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2478024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热力模型层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0864" y="2487168"/>
            <a:ext cx="39776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60" b="0">
                <a:solidFill>
                  <a:srgbClr val="111827"/>
                </a:solidFill>
                <a:latin typeface="微软雅黑"/>
              </a:rPr>
              <a:t>导热模型 / 对流模型 / 辐射模型 / 综合换热模型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75887" y="2807208"/>
            <a:ext cx="0" cy="128016"/>
          </a:xfrm>
          <a:prstGeom prst="line">
            <a:avLst/>
          </a:prstGeom>
          <a:ln w="1270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04672" y="2962656"/>
            <a:ext cx="5715000" cy="393192"/>
          </a:xfrm>
          <a:prstGeom prst="rect">
            <a:avLst/>
          </a:prstGeom>
          <a:solidFill>
            <a:srgbClr val="FFFFFF"/>
          </a:solidFill>
          <a:ln w="14604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" y="2962656"/>
            <a:ext cx="1389888" cy="393192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044952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Notebook 生成层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0864" y="3054096"/>
            <a:ext cx="39776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60" b="0">
                <a:solidFill>
                  <a:srgbClr val="111827"/>
                </a:solidFill>
                <a:latin typeface="微软雅黑"/>
              </a:rPr>
              <a:t>模型说明 + 控制方程 + 求解代码 + 可视化代码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75887" y="3374136"/>
            <a:ext cx="0" cy="128016"/>
          </a:xfrm>
          <a:prstGeom prst="line">
            <a:avLst/>
          </a:prstGeom>
          <a:ln w="1270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04672" y="3529584"/>
            <a:ext cx="5715000" cy="393192"/>
          </a:xfrm>
          <a:prstGeom prst="rect">
            <a:avLst/>
          </a:prstGeom>
          <a:solidFill>
            <a:srgbClr val="FFFFFF"/>
          </a:solidFill>
          <a:ln w="14604">
            <a:solidFill>
              <a:srgbClr val="007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" y="3529584"/>
            <a:ext cx="1389888" cy="393192"/>
          </a:xfrm>
          <a:prstGeom prst="rect">
            <a:avLst/>
          </a:prstGeom>
          <a:solidFill>
            <a:srgbClr val="007EC8"/>
          </a:solidFill>
          <a:ln w="12700">
            <a:solidFill>
              <a:srgbClr val="007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611879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计算执行层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40864" y="3621024"/>
            <a:ext cx="39776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60" b="0">
                <a:solidFill>
                  <a:srgbClr val="111827"/>
                </a:solidFill>
                <a:latin typeface="微软雅黑"/>
              </a:rPr>
              <a:t>Python Kernel + NumPy + Matplotlib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75887" y="3941063"/>
            <a:ext cx="0" cy="128017"/>
          </a:xfrm>
          <a:prstGeom prst="line">
            <a:avLst/>
          </a:prstGeom>
          <a:ln w="1270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04672" y="4096512"/>
            <a:ext cx="5715000" cy="393192"/>
          </a:xfrm>
          <a:prstGeom prst="rect">
            <a:avLst/>
          </a:prstGeom>
          <a:solidFill>
            <a:srgbClr val="FFFFFF"/>
          </a:solidFill>
          <a:ln w="14604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" y="4096512"/>
            <a:ext cx="1389888" cy="393192"/>
          </a:xfrm>
          <a:prstGeom prst="rect">
            <a:avLst/>
          </a:prstGeom>
          <a:solidFill>
            <a:srgbClr val="192D96"/>
          </a:solidFill>
          <a:ln w="1270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4178808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结果展示层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40864" y="4187952"/>
            <a:ext cx="39776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60" b="0">
                <a:solidFill>
                  <a:srgbClr val="111827"/>
                </a:solidFill>
                <a:latin typeface="微软雅黑"/>
              </a:rPr>
              <a:t>温度场 / 热流密度 / 换热量 / 曲线图 / 云图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675887" y="4507992"/>
            <a:ext cx="0" cy="128016"/>
          </a:xfrm>
          <a:prstGeom prst="line">
            <a:avLst/>
          </a:prstGeom>
          <a:ln w="1270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04672" y="4663440"/>
            <a:ext cx="5715000" cy="393192"/>
          </a:xfrm>
          <a:prstGeom prst="rect">
            <a:avLst/>
          </a:prstGeom>
          <a:solidFill>
            <a:srgbClr val="FFFFFF"/>
          </a:solidFill>
          <a:ln w="14604">
            <a:solidFill>
              <a:srgbClr val="9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" y="4663440"/>
            <a:ext cx="1389888" cy="393192"/>
          </a:xfrm>
          <a:prstGeom prst="rect">
            <a:avLst/>
          </a:prstGeom>
          <a:solidFill>
            <a:srgbClr val="920000"/>
          </a:solidFill>
          <a:ln w="12700">
            <a:solidFill>
              <a:srgbClr val="9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4745736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教学管理层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40864" y="4754879"/>
            <a:ext cx="39776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60" b="0">
                <a:solidFill>
                  <a:srgbClr val="111827"/>
                </a:solidFill>
                <a:latin typeface="微软雅黑"/>
              </a:rPr>
              <a:t>用户隔离 / 实验发布 / 作业提交 / 评分反馈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76872" y="1810512"/>
            <a:ext cx="4480560" cy="1828800"/>
          </a:xfrm>
          <a:prstGeom prst="rect">
            <a:avLst/>
          </a:prstGeom>
          <a:solidFill>
            <a:srgbClr val="F2F9FC"/>
          </a:solidFill>
          <a:ln w="12700">
            <a:solidFill>
              <a:srgbClr val="B7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05472" y="1975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00E4F"/>
                </a:solidFill>
                <a:latin typeface="微软雅黑"/>
              </a:rPr>
              <a:t>模块链路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42048" y="2331720"/>
            <a:ext cx="379476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lnSpc>
                <a:spcPct val="105000"/>
              </a:lnSpc>
            </a:pPr>
            <a:r>
              <a:rPr sz="1010" b="1">
                <a:solidFill>
                  <a:srgbClr val="C0504D"/>
                </a:solidFill>
                <a:latin typeface="微软雅黑"/>
              </a:rPr>
              <a:t>ControlPanel.tsx</a:t>
            </a:r>
            <a:r>
              <a:rPr sz="1010" b="0">
                <a:solidFill>
                  <a:srgbClr val="111827"/>
                </a:solidFill>
                <a:latin typeface="微软雅黑"/>
              </a:rPr>
              <a:t>  →  选择场景 + 输入参数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42048" y="2633472"/>
            <a:ext cx="379476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lnSpc>
                <a:spcPct val="105000"/>
              </a:lnSpc>
            </a:pPr>
            <a:r>
              <a:rPr sz="1010" b="1">
                <a:solidFill>
                  <a:srgbClr val="C0504D"/>
                </a:solidFill>
                <a:latin typeface="微软雅黑"/>
              </a:rPr>
              <a:t>NotebookGenerator.ts</a:t>
            </a:r>
            <a:r>
              <a:rPr sz="1010" b="0">
                <a:solidFill>
                  <a:srgbClr val="111827"/>
                </a:solidFill>
                <a:latin typeface="微软雅黑"/>
              </a:rPr>
              <a:t>  →  生成 Markdown + Code Cells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42048" y="2935224"/>
            <a:ext cx="379476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lnSpc>
                <a:spcPct val="105000"/>
              </a:lnSpc>
            </a:pPr>
            <a:r>
              <a:rPr sz="1010" b="1">
                <a:solidFill>
                  <a:srgbClr val="C0504D"/>
                </a:solidFill>
                <a:latin typeface="微软雅黑"/>
              </a:rPr>
              <a:t>thermal_solver</a:t>
            </a:r>
            <a:r>
              <a:rPr sz="1010" b="0">
                <a:solidFill>
                  <a:srgbClr val="111827"/>
                </a:solidFill>
                <a:latin typeface="微软雅黑"/>
              </a:rPr>
              <a:t>  →  执行热力模型求解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42048" y="3236976"/>
            <a:ext cx="3794760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lnSpc>
                <a:spcPct val="105000"/>
              </a:lnSpc>
            </a:pPr>
            <a:r>
              <a:rPr sz="1010" b="1">
                <a:solidFill>
                  <a:srgbClr val="C0504D"/>
                </a:solidFill>
                <a:latin typeface="微软雅黑"/>
              </a:rPr>
              <a:t>JupyterLab Notebook</a:t>
            </a:r>
            <a:r>
              <a:rPr sz="1010" b="0">
                <a:solidFill>
                  <a:srgbClr val="111827"/>
                </a:solidFill>
                <a:latin typeface="微软雅黑"/>
              </a:rPr>
              <a:t>  →  展示代码、图像和结果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76872" y="3977639"/>
            <a:ext cx="4480560" cy="960120"/>
          </a:xfrm>
          <a:prstGeom prst="rect">
            <a:avLst/>
          </a:prstGeom>
          <a:solidFill>
            <a:srgbClr val="EDF8FC"/>
          </a:solidFill>
          <a:ln w="12700">
            <a:solidFill>
              <a:srgbClr val="B7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23760" y="411480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00E4F"/>
                </a:solidFill>
                <a:latin typeface="微软雅黑"/>
              </a:rPr>
              <a:t>技术定位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4407408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" b="0">
                <a:solidFill>
                  <a:srgbClr val="111827"/>
                </a:solidFill>
                <a:latin typeface="微软雅黑"/>
              </a:rPr>
              <a:t>JupyterLab、Docker 和作业系统用于承载、隔离和组织仿真实验，是实现白箱式仿真的支撑条件。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34440" y="5559552"/>
            <a:ext cx="9738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20" b="1">
                <a:solidFill>
                  <a:srgbClr val="000E4F"/>
                </a:solidFill>
                <a:latin typeface="微软雅黑"/>
              </a:rPr>
              <a:t>平台技术不是研究主角，而是支撑热力仿真过程实现“可见、可算、可改、可复现”的工程载体。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00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999" cy="7315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09728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FFFFFF"/>
                </a:solidFill>
                <a:latin typeface="微软雅黑"/>
              </a:rPr>
              <a:t>热力建模示例构建与当前实现成果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82296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173736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>
                <a:solidFill>
                  <a:srgbClr val="B7E9FC"/>
                </a:solidFill>
                <a:latin typeface="微软雅黑"/>
              </a:rPr>
              <a:t>第三部分  研究内容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528816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B7280"/>
                </a:solidFill>
                <a:latin typeface="微软雅黑"/>
              </a:rPr>
              <a:t>显示计算代码的热力仿真系统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1052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C0504D"/>
                </a:solidFill>
                <a:latin typeface="微软雅黑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80" b="0">
                <a:solidFill>
                  <a:srgbClr val="111827"/>
                </a:solidFill>
                <a:latin typeface="微软雅黑"/>
              </a:rPr>
              <a:t>当前系统已围绕热设计基础问题构建多个典型仿真场景，覆盖稳态导热、瞬态导热、对流换热和热辐射等内容。每个场景均包含参数输入、模型说明、计算代码、结果图像和关键物理量输出，初步形成了从热力建模到可执行仿真的完整流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5394960" cy="3218688"/>
          </a:xfrm>
          <a:prstGeom prst="rect">
            <a:avLst/>
          </a:prstGeom>
          <a:solidFill>
            <a:srgbClr val="F2F9FC"/>
          </a:solidFill>
          <a:ln w="12700">
            <a:solidFill>
              <a:srgbClr val="B7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933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20" b="1">
                <a:solidFill>
                  <a:srgbClr val="000E4F"/>
                </a:solidFill>
                <a:latin typeface="微软雅黑"/>
              </a:rPr>
              <a:t>阶段成果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4828032" cy="2084831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buChar char="•"/>
              <a:lnSpc>
                <a:spcPct val="104000"/>
              </a:lnSpc>
              <a:spcAft>
                <a:spcPts val="400"/>
              </a:spcAft>
              <a:defRPr sz="1090">
                <a:solidFill>
                  <a:srgbClr val="111827"/>
                </a:solidFill>
                <a:latin typeface="微软雅黑"/>
              </a:defRPr>
            </a:pPr>
            <a:r>
              <a:t>已配置 4 类热力仿真模型：稳态导热、瞬态导热、对流换热、热辐射</a:t>
            </a:r>
          </a:p>
          <a:p>
            <a:pPr>
              <a:buChar char="•"/>
              <a:lnSpc>
                <a:spcPct val="104000"/>
              </a:lnSpc>
              <a:spcAft>
                <a:spcPts val="400"/>
              </a:spcAft>
              <a:defRPr sz="1090">
                <a:solidFill>
                  <a:srgbClr val="111827"/>
                </a:solidFill>
                <a:latin typeface="微软雅黑"/>
              </a:defRPr>
            </a:pPr>
            <a:r>
              <a:t>已构建平板导热、多层平板、圆筒壁导热、肋片导热、二维平板导热等导热场景</a:t>
            </a:r>
          </a:p>
          <a:p>
            <a:pPr>
              <a:buChar char="•"/>
              <a:lnSpc>
                <a:spcPct val="104000"/>
              </a:lnSpc>
              <a:spcAft>
                <a:spcPts val="400"/>
              </a:spcAft>
              <a:defRPr sz="1090">
                <a:solidFill>
                  <a:srgbClr val="111827"/>
                </a:solidFill>
                <a:latin typeface="微软雅黑"/>
              </a:defRPr>
            </a:pPr>
            <a:r>
              <a:t>已构建平板强制对流、竖板自然对流、圆管内强迫对流等对流换热场景</a:t>
            </a:r>
          </a:p>
          <a:p>
            <a:pPr>
              <a:buChar char="•"/>
              <a:lnSpc>
                <a:spcPct val="104000"/>
              </a:lnSpc>
              <a:spcAft>
                <a:spcPts val="400"/>
              </a:spcAft>
              <a:defRPr sz="1090">
                <a:solidFill>
                  <a:srgbClr val="111827"/>
                </a:solidFill>
                <a:latin typeface="微软雅黑"/>
              </a:defRPr>
            </a:pPr>
            <a:r>
              <a:t>已构建平行平板辐射、三表面封闭空腔辐射等热辐射场景</a:t>
            </a:r>
          </a:p>
          <a:p>
            <a:pPr>
              <a:buChar char="•"/>
              <a:lnSpc>
                <a:spcPct val="104000"/>
              </a:lnSpc>
              <a:spcAft>
                <a:spcPts val="400"/>
              </a:spcAft>
              <a:defRPr sz="1090">
                <a:solidFill>
                  <a:srgbClr val="111827"/>
                </a:solidFill>
                <a:latin typeface="微软雅黑"/>
              </a:defRPr>
            </a:pPr>
            <a:r>
              <a:t>支持生成包含模型方程、求解代码、结果曲线和误差分析的 Notebook</a:t>
            </a:r>
          </a:p>
          <a:p>
            <a:pPr>
              <a:buChar char="•"/>
              <a:lnSpc>
                <a:spcPct val="104000"/>
              </a:lnSpc>
              <a:spcAft>
                <a:spcPts val="400"/>
              </a:spcAft>
              <a:defRPr sz="1090">
                <a:solidFill>
                  <a:srgbClr val="111827"/>
                </a:solidFill>
                <a:latin typeface="微软雅黑"/>
              </a:defRPr>
            </a:pPr>
            <a:r>
              <a:t>已实现前端参数面板与 Notebook 生成模块的基本联动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17720"/>
            <a:ext cx="47731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60" b="1">
                <a:solidFill>
                  <a:srgbClr val="920000"/>
                </a:solidFill>
                <a:latin typeface="微软雅黑"/>
              </a:rPr>
              <a:t>阶段成果表明，系统已能将典型热力模型转化为可执行、可展示、可复算的 Notebook 仿真实验。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4919472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99339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20" b="1">
                <a:solidFill>
                  <a:srgbClr val="C0504D"/>
                </a:solidFill>
                <a:latin typeface="微软雅黑"/>
              </a:rPr>
              <a:t>案例：一维稳态平板导热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304288"/>
            <a:ext cx="440740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69" b="0">
                <a:solidFill>
                  <a:srgbClr val="111827"/>
                </a:solidFill>
                <a:latin typeface="微软雅黑"/>
              </a:rPr>
              <a:t>输入：L、k、T_h、T_c</a:t>
            </a:r>
          </a:p>
          <a:p>
            <a:pPr algn="l">
              <a:lnSpc>
                <a:spcPct val="108000"/>
              </a:lnSpc>
            </a:pPr>
            <a:r>
              <a:rPr sz="969" b="0">
                <a:solidFill>
                  <a:srgbClr val="111827"/>
                </a:solidFill>
                <a:latin typeface="微软雅黑"/>
              </a:rPr>
              <a:t>模型：d²T/dx² = 0，T(0)=T_h，T(L)=T_c</a:t>
            </a:r>
          </a:p>
          <a:p>
            <a:pPr algn="l">
              <a:lnSpc>
                <a:spcPct val="108000"/>
              </a:lnSpc>
            </a:pPr>
            <a:r>
              <a:rPr sz="969" b="0">
                <a:solidFill>
                  <a:srgbClr val="111827"/>
                </a:solidFill>
                <a:latin typeface="微软雅黑"/>
              </a:rPr>
              <a:t>方法：有限差分法 FDM，组装 [A]{T} = {b}</a:t>
            </a:r>
          </a:p>
          <a:p>
            <a:pPr algn="l">
              <a:lnSpc>
                <a:spcPct val="108000"/>
              </a:lnSpc>
            </a:pPr>
            <a:r>
              <a:rPr sz="969" b="0">
                <a:solidFill>
                  <a:srgbClr val="111827"/>
                </a:solidFill>
                <a:latin typeface="微软雅黑"/>
              </a:rPr>
              <a:t>输出：温度分布、热流密度 q、单位面积热阻 R、误差</a:t>
            </a:r>
          </a:p>
        </p:txBody>
      </p:sp>
      <p:pic>
        <p:nvPicPr>
          <p:cNvPr id="17" name="Picture 16" descr="flat_plate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3310128"/>
            <a:ext cx="4892040" cy="2331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10528" y="5669280"/>
            <a:ext cx="4645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000E4F"/>
                </a:solidFill>
                <a:latin typeface="微软雅黑"/>
              </a:rPr>
              <a:t>验证方式：数值解与解析解对比；输出图像：温度 T 随位置 x 的变化曲线。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00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999" cy="7315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09728"/>
            <a:ext cx="896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FFFFFF"/>
                </a:solidFill>
                <a:latin typeface="微软雅黑"/>
              </a:rPr>
              <a:t>面向实验教学的仿真训练与评价扩展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82296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173736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>
                <a:solidFill>
                  <a:srgbClr val="B7E9FC"/>
                </a:solidFill>
                <a:latin typeface="微软雅黑"/>
              </a:rPr>
              <a:t>第三部分  研究内容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528816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B7280"/>
                </a:solidFill>
                <a:latin typeface="微软雅黑"/>
              </a:rPr>
              <a:t>显示计算代码的热力仿真系统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1052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C0504D"/>
                </a:solidFill>
                <a:latin typeface="微软雅黑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1086307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80" b="0">
                <a:solidFill>
                  <a:srgbClr val="111827"/>
                </a:solidFill>
                <a:latin typeface="微软雅黑"/>
              </a:rPr>
              <a:t>在完成热力模型构建、代码化仿真和结果可视化的基础上，系统进一步面向清洁能源与热工类课程实验教学，支持教师发布仿真实验任务，学生在 Notebook 中完成参数修改、代码运行、结果分析和实验提交。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81912"/>
            <a:ext cx="1086307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80" b="0">
                <a:solidFill>
                  <a:srgbClr val="111827"/>
                </a:solidFill>
                <a:latin typeface="微软雅黑"/>
              </a:rPr>
              <a:t>该部分不是单独的教学网站建设，而是将白箱式热力仿真流程应用到实验训练与学习评价中，使学生能够在“看见代码、运行代码、修改参数、分析结果”的过程中理解热力模型与计算方法。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542032"/>
            <a:ext cx="2029968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542032"/>
            <a:ext cx="2029968" cy="301752"/>
          </a:xfrm>
          <a:prstGeom prst="rect">
            <a:avLst/>
          </a:prstGeom>
          <a:solidFill>
            <a:srgbClr val="000E4F"/>
          </a:solidFill>
          <a:ln w="12700">
            <a:solidFill>
              <a:srgbClr val="00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624327"/>
            <a:ext cx="18836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60" b="1">
                <a:solidFill>
                  <a:srgbClr val="FFFFFF"/>
                </a:solidFill>
                <a:latin typeface="微软雅黑"/>
              </a:rPr>
              <a:t>教师发布实验任务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017520"/>
            <a:ext cx="1773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69" b="0">
                <a:solidFill>
                  <a:srgbClr val="111827"/>
                </a:solidFill>
                <a:latin typeface="微软雅黑"/>
              </a:rPr>
              <a:t>模型类型 / 参数范围</a:t>
            </a:r>
          </a:p>
          <a:p>
            <a:pPr algn="ctr">
              <a:lnSpc>
                <a:spcPct val="108000"/>
              </a:lnSpc>
            </a:pPr>
            <a:r>
              <a:rPr sz="869" b="0">
                <a:solidFill>
                  <a:srgbClr val="111827"/>
                </a:solidFill>
                <a:latin typeface="微软雅黑"/>
              </a:rPr>
              <a:t>实验要求 / 评分规则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79776" y="3035808"/>
            <a:ext cx="210312" cy="0"/>
          </a:xfrm>
          <a:prstGeom prst="line">
            <a:avLst/>
          </a:prstGeom>
          <a:ln w="1397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026664" y="2542032"/>
            <a:ext cx="2029968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26664" y="2542032"/>
            <a:ext cx="2029968" cy="301752"/>
          </a:xfrm>
          <a:prstGeom prst="rect">
            <a:avLst/>
          </a:prstGeom>
          <a:solidFill>
            <a:srgbClr val="003980"/>
          </a:solidFill>
          <a:ln w="12700">
            <a:solidFill>
              <a:srgbClr val="003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9816" y="2624327"/>
            <a:ext cx="18836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60" b="1">
                <a:solidFill>
                  <a:srgbClr val="FFFFFF"/>
                </a:solidFill>
                <a:latin typeface="微软雅黑"/>
              </a:rPr>
              <a:t>学生进入 Notebook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017520"/>
            <a:ext cx="1773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69" b="0">
                <a:solidFill>
                  <a:srgbClr val="111827"/>
                </a:solidFill>
                <a:latin typeface="微软雅黑"/>
              </a:rPr>
              <a:t>阅读模型说明</a:t>
            </a:r>
          </a:p>
          <a:p>
            <a:pPr algn="ctr">
              <a:lnSpc>
                <a:spcPct val="108000"/>
              </a:lnSpc>
            </a:pPr>
            <a:r>
              <a:rPr sz="869" b="0">
                <a:solidFill>
                  <a:srgbClr val="111827"/>
                </a:solidFill>
                <a:latin typeface="微软雅黑"/>
              </a:rPr>
              <a:t>查看方程 / 运行代码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93208" y="3035808"/>
            <a:ext cx="210312" cy="0"/>
          </a:xfrm>
          <a:prstGeom prst="line">
            <a:avLst/>
          </a:prstGeom>
          <a:ln w="1397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340096" y="2542032"/>
            <a:ext cx="2029968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0096" y="2542032"/>
            <a:ext cx="2029968" cy="301752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13248" y="2624327"/>
            <a:ext cx="18836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60" b="1">
                <a:solidFill>
                  <a:srgbClr val="FFFFFF"/>
                </a:solidFill>
                <a:latin typeface="微软雅黑"/>
              </a:rPr>
              <a:t>参数修改与仿真实验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8112" y="3017520"/>
            <a:ext cx="1773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69" b="0">
                <a:solidFill>
                  <a:srgbClr val="111827"/>
                </a:solidFill>
                <a:latin typeface="微软雅黑"/>
              </a:rPr>
              <a:t>改变材料参数</a:t>
            </a:r>
          </a:p>
          <a:p>
            <a:pPr algn="ctr">
              <a:lnSpc>
                <a:spcPct val="108000"/>
              </a:lnSpc>
            </a:pPr>
            <a:r>
              <a:rPr sz="869" b="0">
                <a:solidFill>
                  <a:srgbClr val="111827"/>
                </a:solidFill>
                <a:latin typeface="微软雅黑"/>
              </a:rPr>
              <a:t>边界条件 / 网格数量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06640" y="3035808"/>
            <a:ext cx="210312" cy="0"/>
          </a:xfrm>
          <a:prstGeom prst="line">
            <a:avLst/>
          </a:prstGeom>
          <a:ln w="1397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653528" y="2542032"/>
            <a:ext cx="2029968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53528" y="2542032"/>
            <a:ext cx="2029968" cy="301752"/>
          </a:xfrm>
          <a:prstGeom prst="rect">
            <a:avLst/>
          </a:prstGeom>
          <a:solidFill>
            <a:srgbClr val="007EC8"/>
          </a:solidFill>
          <a:ln w="12700">
            <a:solidFill>
              <a:srgbClr val="007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80" y="2624327"/>
            <a:ext cx="18836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60" b="1">
                <a:solidFill>
                  <a:srgbClr val="FFFFFF"/>
                </a:solidFill>
                <a:latin typeface="微软雅黑"/>
              </a:rPr>
              <a:t>结果分析与报告提交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1544" y="3017520"/>
            <a:ext cx="1773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69" b="0">
                <a:solidFill>
                  <a:srgbClr val="111827"/>
                </a:solidFill>
                <a:latin typeface="微软雅黑"/>
              </a:rPr>
              <a:t>温度分布 / 热流密度</a:t>
            </a:r>
          </a:p>
          <a:p>
            <a:pPr algn="ctr">
              <a:lnSpc>
                <a:spcPct val="108000"/>
              </a:lnSpc>
            </a:pPr>
            <a:r>
              <a:rPr sz="869" b="0">
                <a:solidFill>
                  <a:srgbClr val="111827"/>
                </a:solidFill>
                <a:latin typeface="微软雅黑"/>
              </a:rPr>
              <a:t>换热量 / 误差对比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720072" y="3035808"/>
            <a:ext cx="210312" cy="0"/>
          </a:xfrm>
          <a:prstGeom prst="line">
            <a:avLst/>
          </a:prstGeom>
          <a:ln w="1397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966960" y="2542032"/>
            <a:ext cx="2029968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6960" y="2542032"/>
            <a:ext cx="2029968" cy="301752"/>
          </a:xfrm>
          <a:prstGeom prst="rect">
            <a:avLst/>
          </a:prstGeom>
          <a:solidFill>
            <a:srgbClr val="920000"/>
          </a:solidFill>
          <a:ln w="12700">
            <a:solidFill>
              <a:srgbClr val="9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0112" y="2624327"/>
            <a:ext cx="18836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60" b="1">
                <a:solidFill>
                  <a:srgbClr val="FFFFFF"/>
                </a:solidFill>
                <a:latin typeface="微软雅黑"/>
              </a:rPr>
              <a:t>作业收集与评价反馈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94976" y="3017520"/>
            <a:ext cx="1773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69" b="0">
                <a:solidFill>
                  <a:srgbClr val="111827"/>
                </a:solidFill>
                <a:latin typeface="微软雅黑"/>
              </a:rPr>
              <a:t>自动检查 / 教师批改</a:t>
            </a:r>
          </a:p>
          <a:p>
            <a:pPr algn="ctr">
              <a:lnSpc>
                <a:spcPct val="108000"/>
              </a:lnSpc>
            </a:pPr>
            <a:r>
              <a:rPr sz="869" b="0">
                <a:solidFill>
                  <a:srgbClr val="111827"/>
                </a:solidFill>
                <a:latin typeface="微软雅黑"/>
              </a:rPr>
              <a:t>结果反馈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4041648"/>
            <a:ext cx="5394960" cy="1115568"/>
          </a:xfrm>
          <a:prstGeom prst="rect">
            <a:avLst/>
          </a:prstGeom>
          <a:solidFill>
            <a:srgbClr val="EDF8FC"/>
          </a:solidFill>
          <a:ln w="12700">
            <a:solidFill>
              <a:srgbClr val="B7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178808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60" b="1">
                <a:solidFill>
                  <a:srgbClr val="000E4F"/>
                </a:solidFill>
                <a:latin typeface="微软雅黑"/>
              </a:rPr>
              <a:t>训练任务示例：一维平板稳态导热仿真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489704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111827"/>
                </a:solidFill>
                <a:latin typeface="微软雅黑"/>
              </a:rPr>
              <a:t>1. 修改不同材料的导热系数 k    2. 比较温度分布曲线和热流密度变化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111827"/>
                </a:solidFill>
                <a:latin typeface="微软雅黑"/>
              </a:rPr>
              <a:t>3. 分析边界温差对传热量的影响    4. 对比数值解与解析解误差</a:t>
            </a:r>
          </a:p>
          <a:p>
            <a:pPr algn="l">
              <a:lnSpc>
                <a:spcPct val="108000"/>
              </a:lnSpc>
            </a:pPr>
            <a:r>
              <a:rPr sz="1050" b="0">
                <a:solidFill>
                  <a:srgbClr val="111827"/>
                </a:solidFill>
                <a:latin typeface="微软雅黑"/>
              </a:rPr>
              <a:t>5. 提交 Notebook 与结果分析说明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47104" y="4041648"/>
            <a:ext cx="4681728" cy="1115568"/>
          </a:xfrm>
          <a:prstGeom prst="rect">
            <a:avLst/>
          </a:prstGeom>
          <a:solidFill>
            <a:srgbClr val="F2F9FC"/>
          </a:solidFill>
          <a:ln w="12700">
            <a:solidFill>
              <a:srgbClr val="B7E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48272" y="417880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60" b="1">
                <a:solidFill>
                  <a:srgbClr val="000E4F"/>
                </a:solidFill>
                <a:latin typeface="微软雅黑"/>
              </a:rPr>
              <a:t>技术支撑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48272" y="446227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0">
                <a:solidFill>
                  <a:srgbClr val="111827"/>
                </a:solidFill>
                <a:latin typeface="微软雅黑"/>
              </a:rPr>
              <a:t>JupyterLab：承载可执行 Notebook 实验</a:t>
            </a:r>
          </a:p>
          <a:p>
            <a:pPr algn="l">
              <a:lnSpc>
                <a:spcPct val="108000"/>
              </a:lnSpc>
            </a:pPr>
            <a:r>
              <a:rPr sz="960" b="0">
                <a:solidFill>
                  <a:srgbClr val="111827"/>
                </a:solidFill>
                <a:latin typeface="微软雅黑"/>
              </a:rPr>
              <a:t>Python Kernel：运行热力求解代码</a:t>
            </a:r>
          </a:p>
          <a:p>
            <a:pPr algn="l">
              <a:lnSpc>
                <a:spcPct val="108000"/>
              </a:lnSpc>
            </a:pPr>
            <a:r>
              <a:rPr sz="960" b="0">
                <a:solidFill>
                  <a:srgbClr val="111827"/>
                </a:solidFill>
                <a:latin typeface="微软雅黑"/>
              </a:rPr>
              <a:t>nbgrader：发布、收集、评分和反馈实验作业</a:t>
            </a:r>
          </a:p>
          <a:p>
            <a:pPr algn="l">
              <a:lnSpc>
                <a:spcPct val="108000"/>
              </a:lnSpc>
            </a:pPr>
            <a:r>
              <a:rPr sz="960" b="0">
                <a:solidFill>
                  <a:srgbClr val="111827"/>
                </a:solidFill>
                <a:latin typeface="微软雅黑"/>
              </a:rPr>
              <a:t>Docker：隔离学生实验环境，保证运行环境一致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32704"/>
            <a:ext cx="10378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20" b="1">
                <a:solidFill>
                  <a:srgbClr val="000E4F"/>
                </a:solidFill>
                <a:latin typeface="微软雅黑"/>
              </a:rPr>
              <a:t>教学应用层将热力仿真的白箱化过程转化为可训练、可提交、可评价的实验任务，支撑学生对热力模型、数值求解和工程结果的综合理解。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